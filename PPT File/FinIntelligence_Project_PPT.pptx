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82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8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Spending</c:v>
                </c:pt>
              </c:strCache>
            </c:strRef>
          </c:tx>
          <c:spPr>
            <a:solidFill>
              <a:srgbClr val="4F8EF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429-43A4-8FC4-5A66B1E9D7E7}"/>
              </c:ext>
            </c:extLst>
          </c:dPt>
          <c:dPt>
            <c:idx val="1"/>
            <c:invertIfNegative val="0"/>
            <c:bubble3D val="0"/>
            <c:spPr>
              <a:solidFill>
                <a:srgbClr val="7B5C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429-43A4-8FC4-5A66B1E9D7E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429-43A4-8FC4-5A66B1E9D7E7}"/>
              </c:ext>
            </c:extLst>
          </c:dPt>
          <c:dPt>
            <c:idx val="3"/>
            <c:invertIfNegative val="0"/>
            <c:bubble3D val="0"/>
            <c:spPr>
              <a:solidFill>
                <a:srgbClr val="7B5C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429-43A4-8FC4-5A66B1E9D7E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429-43A4-8FC4-5A66B1E9D7E7}"/>
              </c:ext>
            </c:extLst>
          </c:dPt>
          <c:dPt>
            <c:idx val="5"/>
            <c:invertIfNegative val="0"/>
            <c:bubble3D val="0"/>
            <c:spPr>
              <a:solidFill>
                <a:srgbClr val="00CF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429-43A4-8FC4-5A66B1E9D7E7}"/>
              </c:ext>
            </c:extLst>
          </c:dPt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28000</c:v>
                </c:pt>
                <c:pt idx="1">
                  <c:v>33000</c:v>
                </c:pt>
                <c:pt idx="2">
                  <c:v>41000</c:v>
                </c:pt>
                <c:pt idx="3">
                  <c:v>29000</c:v>
                </c:pt>
                <c:pt idx="4">
                  <c:v>38000</c:v>
                </c:pt>
                <c:pt idx="5">
                  <c:v>31880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429-43A4-8FC4-5A66B1E9D7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F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F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B5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Spending</c:v>
                </c:pt>
              </c:strCache>
            </c:strRef>
          </c:tx>
          <c:spPr>
            <a:ln w="38100" cap="flat">
              <a:solidFill>
                <a:srgbClr val="00BC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CD4"/>
              </a:solidFill>
              <a:ln w="9525" cap="flat">
                <a:solidFill>
                  <a:srgbClr val="00BCD4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18000</c:v>
                </c:pt>
                <c:pt idx="1">
                  <c:v>21500</c:v>
                </c:pt>
                <c:pt idx="2">
                  <c:v>19200</c:v>
                </c:pt>
                <c:pt idx="3">
                  <c:v>24000</c:v>
                </c:pt>
                <c:pt idx="4">
                  <c:v>22500</c:v>
                </c:pt>
                <c:pt idx="5">
                  <c:v>27000</c:v>
                </c:pt>
                <c:pt idx="6">
                  <c:v>25500</c:v>
                </c:pt>
                <c:pt idx="7">
                  <c:v>28000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EF3-463B-9C77-B2057CB89D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Predicted</c:v>
                </c:pt>
              </c:strCache>
            </c:strRef>
          </c:tx>
          <c:spPr>
            <a:ln w="38100" cap="flat">
              <a:solidFill>
                <a:srgbClr val="FFD6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D600"/>
              </a:solidFill>
              <a:ln w="9525" cap="flat">
                <a:solidFill>
                  <a:srgbClr val="FFD60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17200</c:v>
                </c:pt>
                <c:pt idx="1">
                  <c:v>21000</c:v>
                </c:pt>
                <c:pt idx="2">
                  <c:v>19800</c:v>
                </c:pt>
                <c:pt idx="3">
                  <c:v>23500</c:v>
                </c:pt>
                <c:pt idx="4">
                  <c:v>22800</c:v>
                </c:pt>
                <c:pt idx="5">
                  <c:v>26500</c:v>
                </c:pt>
                <c:pt idx="6">
                  <c:v>25900</c:v>
                </c:pt>
                <c:pt idx="7">
                  <c:v>27600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EF3-463B-9C77-B2057CB89D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1A255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</c:v>
                </c:pt>
              </c:strCache>
            </c:strRef>
          </c:tx>
          <c:spPr>
            <a:solidFill>
              <a:srgbClr val="2979F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12000</c:v>
                </c:pt>
                <c:pt idx="1">
                  <c:v>15500</c:v>
                </c:pt>
                <c:pt idx="2">
                  <c:v>14200</c:v>
                </c:pt>
                <c:pt idx="3">
                  <c:v>18000</c:v>
                </c:pt>
                <c:pt idx="4">
                  <c:v>16500</c:v>
                </c:pt>
                <c:pt idx="5">
                  <c:v>12800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31-408A-91B7-F838C38CF0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44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C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289-4AFF-9059-FBDEAF5E8721}"/>
              </c:ext>
            </c:extLst>
          </c:dPt>
          <c:dPt>
            <c:idx val="1"/>
            <c:bubble3D val="0"/>
            <c:spPr>
              <a:solidFill>
                <a:srgbClr val="2979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289-4AFF-9059-FBDEAF5E8721}"/>
              </c:ext>
            </c:extLst>
          </c:dPt>
          <c:dPt>
            <c:idx val="2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289-4AFF-9059-FBDEAF5E8721}"/>
              </c:ext>
            </c:extLst>
          </c:dPt>
          <c:dPt>
            <c:idx val="3"/>
            <c:bubble3D val="0"/>
            <c:spPr>
              <a:solidFill>
                <a:srgbClr val="FFD6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289-4AFF-9059-FBDEAF5E872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PK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289-4AFF-9059-FBDEAF5E872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PK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289-4AFF-9059-FBDEAF5E872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PK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289-4AFF-9059-FBDEAF5E872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PK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289-4AFF-9059-FBDEAF5E872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K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Food</c:v>
                </c:pt>
                <c:pt idx="1">
                  <c:v>Rent</c:v>
                </c:pt>
                <c:pt idx="2">
                  <c:v>Travel</c:v>
                </c:pt>
                <c:pt idx="3">
                  <c:v>Misc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28</c:v>
                </c:pt>
                <c:pt idx="2">
                  <c:v>22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289-4AFF-9059-FBDEAF5E87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4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7927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hart" Target="../charts/chart3.xm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5.png"/><Relationship Id="rId9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1CF302-1E66-1487-0F92-A78820B1D7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16" b="909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B432D73-5C38-474F-AF96-A3228731B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3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" y="0"/>
            <a:ext cx="5486400" cy="5486400"/>
          </a:xfrm>
          <a:prstGeom prst="line">
            <a:avLst/>
          </a:prstGeom>
          <a:solidFill>
            <a:srgbClr val="3B5EDB">
              <a:alpha val="20000"/>
            </a:srgbClr>
          </a:solidFill>
          <a:ln w="12700">
            <a:solidFill>
              <a:srgbClr val="3B5EDB"/>
            </a:solidFill>
            <a:prstDash val="solid"/>
          </a:ln>
        </p:spPr>
        <p:txBody>
          <a:bodyPr/>
          <a:lstStyle/>
          <a:p>
            <a:pPr defTabSz="1219170"/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144000" y="3657600"/>
            <a:ext cx="4267200" cy="4267200"/>
          </a:xfrm>
          <a:prstGeom prst="line">
            <a:avLst/>
          </a:prstGeom>
          <a:solidFill>
            <a:srgbClr val="7B5CF0">
              <a:alpha val="20000"/>
            </a:srgbClr>
          </a:solidFill>
          <a:ln w="12700">
            <a:solidFill>
              <a:srgbClr val="7B5CF0"/>
            </a:solidFill>
            <a:prstDash val="solid"/>
          </a:ln>
        </p:spPr>
        <p:txBody>
          <a:bodyPr/>
          <a:lstStyle/>
          <a:p>
            <a:pPr defTabSz="1219170"/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46320" y="12192"/>
            <a:ext cx="2438400" cy="2438400"/>
          </a:xfrm>
          <a:prstGeom prst="line">
            <a:avLst/>
          </a:prstGeom>
          <a:solidFill>
            <a:srgbClr val="00CFC8">
              <a:alpha val="25000"/>
            </a:srgbClr>
          </a:solidFill>
          <a:ln w="12700">
            <a:solidFill>
              <a:srgbClr val="00CFC8"/>
            </a:solidFill>
            <a:prstDash val="solid"/>
          </a:ln>
        </p:spPr>
        <p:txBody>
          <a:bodyPr/>
          <a:lstStyle/>
          <a:p>
            <a:pPr defTabSz="1219170"/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7536" cy="6858000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pPr defTabSz="1219170"/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6720" y="731520"/>
            <a:ext cx="1950720" cy="390144"/>
          </a:xfrm>
          <a:prstGeom prst="rect">
            <a:avLst/>
          </a:prstGeom>
          <a:solidFill>
            <a:srgbClr val="00CFC8">
              <a:alpha val="80000"/>
            </a:srgbClr>
          </a:solidFill>
          <a:ln/>
        </p:spPr>
        <p:txBody>
          <a:bodyPr/>
          <a:lstStyle/>
          <a:p>
            <a:pPr defTabSz="1219170"/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6720" y="731520"/>
            <a:ext cx="1950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b="1" kern="0" spc="267" dirty="0">
                <a:solidFill>
                  <a:srgbClr val="0A0F2E"/>
                </a:solidFill>
                <a:latin typeface="Calibri" panose="020F0502020204030204"/>
              </a:rPr>
              <a:t>AI · FINTECH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70713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FinIntelligence</a:t>
            </a:r>
            <a:endParaRPr lang="en-US" sz="6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2499360"/>
            <a:ext cx="3657600" cy="48768"/>
          </a:xfrm>
          <a:prstGeom prst="rect">
            <a:avLst/>
          </a:prstGeom>
          <a:solidFill>
            <a:srgbClr val="00CFC8"/>
          </a:solidFill>
          <a:ln/>
        </p:spPr>
        <p:txBody>
          <a:bodyPr/>
          <a:lstStyle/>
          <a:p>
            <a:pPr defTabSz="1219170"/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2657856"/>
            <a:ext cx="7071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67" i="1" dirty="0">
                <a:solidFill>
                  <a:srgbClr val="00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Personal Finance Assistant</a:t>
            </a:r>
            <a:endParaRPr lang="en-US" sz="2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3267456"/>
            <a:ext cx="6705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B8C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Financial Intelligence for the Modern User</a:t>
            </a:r>
            <a:endParaRPr lang="en-US" sz="16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" y="3962400"/>
            <a:ext cx="707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F7B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Team: </a:t>
            </a:r>
            <a:r>
              <a:rPr lang="en-US" sz="1600" dirty="0">
                <a:solidFill>
                  <a:srgbClr val="B8C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Sajid Ali  |  Shahzad Ali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5760" y="4413504"/>
            <a:ext cx="707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F7B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Supervisor: </a:t>
            </a:r>
            <a:r>
              <a:rPr lang="en-US" sz="1600" b="1" dirty="0">
                <a:solidFill>
                  <a:srgbClr val="B8C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Faisal Hafeez</a:t>
            </a:r>
            <a:endParaRPr lang="en-US" sz="1467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4864608"/>
            <a:ext cx="707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7B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</a:t>
            </a:r>
            <a:r>
              <a:rPr lang="en-US" sz="2000" b="1" dirty="0">
                <a:solidFill>
                  <a:srgbClr val="F7B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r>
              <a:rPr lang="en-US" sz="1467" b="1" dirty="0">
                <a:solidFill>
                  <a:srgbClr val="F7B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b="1" dirty="0">
                <a:solidFill>
                  <a:srgbClr val="B8C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Layyah</a:t>
            </a:r>
            <a:endParaRPr lang="en-US" sz="1467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5760" y="5315712"/>
            <a:ext cx="707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7B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</a:t>
            </a:r>
            <a:r>
              <a:rPr lang="en-US" sz="2000" b="1" dirty="0">
                <a:solidFill>
                  <a:srgbClr val="F7B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Dept: </a:t>
            </a:r>
            <a:r>
              <a:rPr lang="en-US" sz="1600" dirty="0">
                <a:solidFill>
                  <a:srgbClr val="B8C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5766816"/>
            <a:ext cx="707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7B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</a:t>
            </a:r>
            <a:r>
              <a:rPr lang="en-US" sz="2000" b="1" dirty="0">
                <a:solidFill>
                  <a:srgbClr val="F7B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Semester: </a:t>
            </a:r>
            <a:r>
              <a:rPr lang="en-US" sz="1600" dirty="0">
                <a:solidFill>
                  <a:srgbClr val="B8C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6th Semester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315200" y="609600"/>
            <a:ext cx="4511040" cy="5730240"/>
          </a:xfrm>
          <a:prstGeom prst="rect">
            <a:avLst/>
          </a:prstGeom>
          <a:solidFill>
            <a:srgbClr val="111B52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315200" y="609600"/>
            <a:ext cx="4511040" cy="731520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pPr defTabSz="1219170"/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76160" y="670560"/>
            <a:ext cx="4389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FinIntelligence  •  Dashboard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37120" y="1524000"/>
            <a:ext cx="1341120" cy="85344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pPr defTabSz="1219170"/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37120" y="1560576"/>
            <a:ext cx="1341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b="1" dirty="0">
                <a:solidFill>
                  <a:srgbClr val="00CFC8"/>
                </a:solidFill>
                <a:latin typeface="Calibri" panose="020F0502020204030204"/>
              </a:rPr>
              <a:t>PKR 45,200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37120" y="1987296"/>
            <a:ext cx="134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933" dirty="0">
                <a:solidFill>
                  <a:srgbClr val="6B7FC4"/>
                </a:solidFill>
                <a:latin typeface="Calibri" panose="020F0502020204030204"/>
              </a:rPr>
              <a:t>Monthly Budget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900160" y="1524000"/>
            <a:ext cx="1341120" cy="85344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pPr defTabSz="1219170"/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00160" y="1560576"/>
            <a:ext cx="1341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b="1" dirty="0">
                <a:solidFill>
                  <a:srgbClr val="00CFC8"/>
                </a:solidFill>
                <a:latin typeface="Calibri" panose="020F0502020204030204"/>
              </a:rPr>
              <a:t>PKR 31,880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900160" y="1987296"/>
            <a:ext cx="134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933" dirty="0">
                <a:solidFill>
                  <a:srgbClr val="6B7FC4"/>
                </a:solidFill>
                <a:latin typeface="Calibri" panose="020F0502020204030204"/>
              </a:rPr>
              <a:t>Spent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363200" y="1524000"/>
            <a:ext cx="1341120" cy="85344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pPr defTabSz="1219170"/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363200" y="1560576"/>
            <a:ext cx="1341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b="1" dirty="0">
                <a:solidFill>
                  <a:srgbClr val="00CFC8"/>
                </a:solidFill>
                <a:latin typeface="Calibri" panose="020F0502020204030204"/>
              </a:rPr>
              <a:t>PKR 13,320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363200" y="1987296"/>
            <a:ext cx="134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933" dirty="0">
                <a:solidFill>
                  <a:srgbClr val="6B7FC4"/>
                </a:solidFill>
                <a:latin typeface="Calibri" panose="020F0502020204030204"/>
              </a:rPr>
              <a:t>Remaining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29" name="Chart 0"/>
          <p:cNvGraphicFramePr/>
          <p:nvPr/>
        </p:nvGraphicFramePr>
        <p:xfrm>
          <a:off x="7437120" y="2560320"/>
          <a:ext cx="42672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Shape 27"/>
          <p:cNvSpPr/>
          <p:nvPr/>
        </p:nvSpPr>
        <p:spPr>
          <a:xfrm>
            <a:off x="7559040" y="4998720"/>
            <a:ext cx="4023360" cy="853440"/>
          </a:xfrm>
          <a:prstGeom prst="rect">
            <a:avLst/>
          </a:prstGeom>
          <a:solidFill>
            <a:srgbClr val="7B5CF0">
              <a:alpha val="80000"/>
            </a:srgbClr>
          </a:solidFill>
          <a:ln/>
        </p:spPr>
        <p:txBody>
          <a:bodyPr/>
          <a:lstStyle/>
          <a:p>
            <a:pPr defTabSz="1219170"/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7559040" y="4998720"/>
            <a:ext cx="40233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🤖  AI Prediction: PKR 38,500 next month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65760" y="6278880"/>
            <a:ext cx="1584960" cy="426720"/>
          </a:xfrm>
          <a:prstGeom prst="rect">
            <a:avLst/>
          </a:prstGeom>
          <a:solidFill>
            <a:srgbClr val="3B5EDB">
              <a:alpha val="60000"/>
            </a:srgbClr>
          </a:solidFill>
          <a:ln/>
        </p:spPr>
        <p:txBody>
          <a:bodyPr/>
          <a:lstStyle/>
          <a:p>
            <a:pPr defTabSz="1219170"/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65760" y="6278880"/>
            <a:ext cx="1584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Android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2133600" y="6278880"/>
            <a:ext cx="1584960" cy="426720"/>
          </a:xfrm>
          <a:prstGeom prst="rect">
            <a:avLst/>
          </a:prstGeom>
          <a:solidFill>
            <a:srgbClr val="3B5EDB">
              <a:alpha val="60000"/>
            </a:srgbClr>
          </a:solidFill>
          <a:ln/>
        </p:spPr>
        <p:txBody>
          <a:bodyPr/>
          <a:lstStyle/>
          <a:p>
            <a:pPr defTabSz="1219170"/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2133600" y="6278880"/>
            <a:ext cx="1584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Flask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3901440" y="6278880"/>
            <a:ext cx="1584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3931920" y="6278880"/>
            <a:ext cx="1584960" cy="426720"/>
          </a:xfrm>
          <a:prstGeom prst="rect">
            <a:avLst/>
          </a:prstGeom>
          <a:solidFill>
            <a:srgbClr val="3B5EDB">
              <a:alpha val="60000"/>
            </a:srgbClr>
          </a:solidFill>
          <a:ln/>
        </p:spPr>
        <p:txBody>
          <a:bodyPr/>
          <a:lstStyle/>
          <a:p>
            <a:pPr defTabSz="1219170"/>
            <a:endParaRPr lang="en-PK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3947160" y="6278880"/>
            <a:ext cx="1584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XGBoost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F5252">
              <a:alpha val="12000"/>
            </a:srgbClr>
          </a:solidFill>
          <a:ln w="12700">
            <a:solidFill>
              <a:srgbClr val="FF525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2560320" cy="4572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697480" cy="3474720"/>
          </a:xfrm>
          <a:prstGeom prst="rect">
            <a:avLst/>
          </a:prstGeom>
          <a:solidFill>
            <a:srgbClr val="1A2550"/>
          </a:solidFill>
          <a:ln w="12700">
            <a:solidFill>
              <a:srgbClr val="FF5252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2697480" cy="6400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216152" y="1435608"/>
            <a:ext cx="914400" cy="914400"/>
          </a:xfrm>
          <a:prstGeom prst="ellipse">
            <a:avLst/>
          </a:prstGeom>
          <a:solidFill>
            <a:srgbClr val="FF5252">
              <a:alpha val="18000"/>
            </a:srgbClr>
          </a:solidFill>
          <a:ln w="12700">
            <a:solidFill>
              <a:srgbClr val="FF525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545336"/>
            <a:ext cx="685800" cy="685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560320" y="1399032"/>
            <a:ext cx="365760" cy="365760"/>
          </a:xfrm>
          <a:prstGeom prst="ellipse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2560320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29768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29768" y="29718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Tedious expense logging prone to human errors &amp; inconsistencies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00400" y="1234440"/>
            <a:ext cx="2697480" cy="3474720"/>
          </a:xfrm>
          <a:prstGeom prst="rect">
            <a:avLst/>
          </a:prstGeom>
          <a:solidFill>
            <a:srgbClr val="1A2550"/>
          </a:solidFill>
          <a:ln w="12700">
            <a:solidFill>
              <a:srgbClr val="FFD600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2"/>
          <p:cNvSpPr/>
          <p:nvPr/>
        </p:nvSpPr>
        <p:spPr>
          <a:xfrm>
            <a:off x="3200400" y="1234440"/>
            <a:ext cx="269748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3"/>
          <p:cNvSpPr/>
          <p:nvPr/>
        </p:nvSpPr>
        <p:spPr>
          <a:xfrm>
            <a:off x="4096512" y="1435608"/>
            <a:ext cx="914400" cy="914400"/>
          </a:xfrm>
          <a:prstGeom prst="ellipse">
            <a:avLst/>
          </a:prstGeom>
          <a:solidFill>
            <a:srgbClr val="FFD600">
              <a:alpha val="18000"/>
            </a:srgbClr>
          </a:solidFill>
          <a:ln w="12700">
            <a:solidFill>
              <a:srgbClr val="FFD6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545336"/>
            <a:ext cx="685800" cy="6858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40680" y="1399032"/>
            <a:ext cx="365760" cy="365760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5"/>
          <p:cNvSpPr/>
          <p:nvPr/>
        </p:nvSpPr>
        <p:spPr>
          <a:xfrm>
            <a:off x="5440680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310128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 Tools</a:t>
            </a: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3310128" y="29718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AI forecasting to plan for future financial obligations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080760" y="1234440"/>
            <a:ext cx="2697480" cy="3474720"/>
          </a:xfrm>
          <a:prstGeom prst="rect">
            <a:avLst/>
          </a:prstGeom>
          <a:solidFill>
            <a:srgbClr val="1A2550"/>
          </a:solidFill>
          <a:ln w="12700">
            <a:solidFill>
              <a:srgbClr val="2979FF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19"/>
          <p:cNvSpPr/>
          <p:nvPr/>
        </p:nvSpPr>
        <p:spPr>
          <a:xfrm>
            <a:off x="6080760" y="1234440"/>
            <a:ext cx="2697480" cy="64008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20"/>
          <p:cNvSpPr/>
          <p:nvPr/>
        </p:nvSpPr>
        <p:spPr>
          <a:xfrm>
            <a:off x="6976872" y="1435608"/>
            <a:ext cx="914400" cy="914400"/>
          </a:xfrm>
          <a:prstGeom prst="ellipse">
            <a:avLst/>
          </a:prstGeom>
          <a:solidFill>
            <a:srgbClr val="2979FF">
              <a:alpha val="18000"/>
            </a:srgbClr>
          </a:solidFill>
          <a:ln w="12700">
            <a:solidFill>
              <a:srgbClr val="2979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545336"/>
            <a:ext cx="685800" cy="68580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8321040" y="1399032"/>
            <a:ext cx="365760" cy="365760"/>
          </a:xfrm>
          <a:prstGeom prst="ellipse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2"/>
          <p:cNvSpPr/>
          <p:nvPr/>
        </p:nvSpPr>
        <p:spPr>
          <a:xfrm>
            <a:off x="8321040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190488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Data Entry</a:t>
            </a: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6190488" y="29718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data from physical receipts is slow and inefficient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8961120" y="1234440"/>
            <a:ext cx="2697480" cy="3474720"/>
          </a:xfrm>
          <a:prstGeom prst="rect">
            <a:avLst/>
          </a:prstGeom>
          <a:solidFill>
            <a:srgbClr val="1A2550"/>
          </a:solidFill>
          <a:ln w="12700">
            <a:solidFill>
              <a:srgbClr val="7C3AED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6"/>
          <p:cNvSpPr/>
          <p:nvPr/>
        </p:nvSpPr>
        <p:spPr>
          <a:xfrm>
            <a:off x="8961120" y="1234440"/>
            <a:ext cx="26974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Shape 27"/>
          <p:cNvSpPr/>
          <p:nvPr/>
        </p:nvSpPr>
        <p:spPr>
          <a:xfrm>
            <a:off x="9857232" y="1435608"/>
            <a:ext cx="914400" cy="9144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0" y="1545336"/>
            <a:ext cx="685800" cy="68580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11201400" y="139903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29"/>
          <p:cNvSpPr/>
          <p:nvPr/>
        </p:nvSpPr>
        <p:spPr>
          <a:xfrm>
            <a:off x="11201400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9070848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Risks</a:t>
            </a: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9070848" y="29718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exposure on cloud-only platforms raises security concerns</a:t>
            </a:r>
            <a:endParaRPr lang="en-US" sz="1400" dirty="0"/>
          </a:p>
        </p:txBody>
      </p:sp>
      <p:sp>
        <p:nvSpPr>
          <p:cNvPr id="38" name="Shape 32"/>
          <p:cNvSpPr/>
          <p:nvPr/>
        </p:nvSpPr>
        <p:spPr>
          <a:xfrm>
            <a:off x="320040" y="4919472"/>
            <a:ext cx="11521440" cy="713232"/>
          </a:xfrm>
          <a:prstGeom prst="rect">
            <a:avLst/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Text 33"/>
          <p:cNvSpPr/>
          <p:nvPr/>
        </p:nvSpPr>
        <p:spPr>
          <a:xfrm>
            <a:off x="1097280" y="4983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2200" dirty="0"/>
          </a:p>
        </p:txBody>
      </p:sp>
      <p:sp>
        <p:nvSpPr>
          <p:cNvPr id="40" name="Text 34"/>
          <p:cNvSpPr/>
          <p:nvPr/>
        </p:nvSpPr>
        <p:spPr>
          <a:xfrm>
            <a:off x="1097280" y="5303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skip manual logging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3931920" y="4983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2hrs</a:t>
            </a:r>
            <a:endParaRPr lang="en-US" sz="2200" dirty="0"/>
          </a:p>
        </p:txBody>
      </p:sp>
      <p:sp>
        <p:nvSpPr>
          <p:cNvPr id="42" name="Text 36"/>
          <p:cNvSpPr/>
          <p:nvPr/>
        </p:nvSpPr>
        <p:spPr>
          <a:xfrm>
            <a:off x="3931920" y="5303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weekly on receipts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6766560" y="4983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200" dirty="0"/>
          </a:p>
        </p:txBody>
      </p:sp>
      <p:sp>
        <p:nvSpPr>
          <p:cNvPr id="44" name="Text 38"/>
          <p:cNvSpPr/>
          <p:nvPr/>
        </p:nvSpPr>
        <p:spPr>
          <a:xfrm>
            <a:off x="6766560" y="5303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financial forecasting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9601200" y="4983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$4.3B</a:t>
            </a:r>
            <a:endParaRPr lang="en-US" sz="2200" dirty="0"/>
          </a:p>
        </p:txBody>
      </p:sp>
      <p:sp>
        <p:nvSpPr>
          <p:cNvPr id="46" name="Text 40"/>
          <p:cNvSpPr/>
          <p:nvPr/>
        </p:nvSpPr>
        <p:spPr>
          <a:xfrm>
            <a:off x="9601200" y="5303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poor finance mgmt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BCD4">
              <a:alpha val="12000"/>
            </a:srgbClr>
          </a:solidFill>
          <a:ln w="12700">
            <a:solidFill>
              <a:srgbClr val="00BCD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201168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4937760" y="1188720"/>
            <a:ext cx="2286000" cy="2286000"/>
          </a:xfrm>
          <a:prstGeom prst="ellipse">
            <a:avLst/>
          </a:prstGeom>
          <a:solidFill>
            <a:srgbClr val="2979FF">
              <a:alpha val="22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508760"/>
            <a:ext cx="1645920" cy="1645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06240" y="3520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FinIntelligence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65760" y="1280160"/>
            <a:ext cx="2651760" cy="1463040"/>
          </a:xfrm>
          <a:prstGeom prst="rect">
            <a:avLst/>
          </a:prstGeom>
          <a:solidFill>
            <a:srgbClr val="1A2550"/>
          </a:solidFill>
          <a:ln w="12700">
            <a:solidFill>
              <a:srgbClr val="2979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417320"/>
            <a:ext cx="594360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13898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Scanner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75488" y="20574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receipts instantly.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entry.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9144000" y="1280160"/>
            <a:ext cx="2651760" cy="1463040"/>
          </a:xfrm>
          <a:prstGeom prst="rect">
            <a:avLst/>
          </a:prstGeom>
          <a:solidFill>
            <a:srgbClr val="1A2550"/>
          </a:solidFill>
          <a:ln w="12700">
            <a:solidFill>
              <a:srgbClr val="00BCD4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3728" y="1417320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921240" y="13898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9253728" y="20574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ML forecasts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future spending.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65760" y="3474720"/>
            <a:ext cx="2651760" cy="1463040"/>
          </a:xfrm>
          <a:prstGeom prst="rect">
            <a:avLst/>
          </a:prstGeom>
          <a:solidFill>
            <a:srgbClr val="1A2550"/>
          </a:solidFill>
          <a:ln w="12700">
            <a:solidFill>
              <a:srgbClr val="FFD60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611880"/>
            <a:ext cx="594360" cy="5943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35844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</a:t>
            </a: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475488" y="42519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voice commands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hands-free control.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9144000" y="3474720"/>
            <a:ext cx="2651760" cy="1463040"/>
          </a:xfrm>
          <a:prstGeom prst="rect">
            <a:avLst/>
          </a:prstGeom>
          <a:solidFill>
            <a:srgbClr val="1A2550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3728" y="3611880"/>
            <a:ext cx="594360" cy="5943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921240" y="35844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9253728" y="42519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spending insights.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3017520" y="2029968"/>
            <a:ext cx="1920240" cy="36576"/>
          </a:xfrm>
          <a:prstGeom prst="rect">
            <a:avLst/>
          </a:prstGeom>
          <a:solidFill>
            <a:srgbClr val="2979FF">
              <a:alpha val="50000"/>
            </a:srgbClr>
          </a:solidFill>
          <a:ln w="12700">
            <a:solidFill>
              <a:srgbClr val="2979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Shape 19"/>
          <p:cNvSpPr/>
          <p:nvPr/>
        </p:nvSpPr>
        <p:spPr>
          <a:xfrm>
            <a:off x="7223760" y="2029968"/>
            <a:ext cx="1920240" cy="36576"/>
          </a:xfrm>
          <a:prstGeom prst="rect">
            <a:avLst/>
          </a:prstGeom>
          <a:solidFill>
            <a:srgbClr val="00BCD4">
              <a:alpha val="50000"/>
            </a:srgbClr>
          </a:solidFill>
          <a:ln w="12700">
            <a:solidFill>
              <a:srgbClr val="00BC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Shape 20"/>
          <p:cNvSpPr/>
          <p:nvPr/>
        </p:nvSpPr>
        <p:spPr>
          <a:xfrm>
            <a:off x="3017520" y="4224528"/>
            <a:ext cx="1920240" cy="36576"/>
          </a:xfrm>
          <a:prstGeom prst="rect">
            <a:avLst/>
          </a:prstGeom>
          <a:solidFill>
            <a:srgbClr val="FFD600">
              <a:alpha val="50000"/>
            </a:srgbClr>
          </a:solidFill>
          <a:ln w="12700">
            <a:solidFill>
              <a:srgbClr val="FFD6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Shape 21"/>
          <p:cNvSpPr/>
          <p:nvPr/>
        </p:nvSpPr>
        <p:spPr>
          <a:xfrm>
            <a:off x="7223760" y="4224528"/>
            <a:ext cx="1920240" cy="36576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2"/>
          <p:cNvSpPr/>
          <p:nvPr/>
        </p:nvSpPr>
        <p:spPr>
          <a:xfrm>
            <a:off x="457200" y="621792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AI-powered app to automate, predict, and secure your finances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371600"/>
            <a:ext cx="5486400" cy="5486400"/>
          </a:xfrm>
          <a:prstGeom prst="ellipse">
            <a:avLst/>
          </a:prstGeom>
          <a:solidFill>
            <a:srgbClr val="00BCD4">
              <a:alpha val="10000"/>
            </a:srgbClr>
          </a:solidFill>
          <a:ln w="12700">
            <a:solidFill>
              <a:srgbClr val="00BCD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Key Feature: AI Predictions (ML)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41148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5120640" cy="114300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64008" cy="11430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1328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3258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Regression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234440" y="17099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gradient boosting model trained on user transaction history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2560320"/>
            <a:ext cx="5120640" cy="114300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365760" y="2560320"/>
            <a:ext cx="64008" cy="1143000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807208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26517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1234440" y="30358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monthly spending trends and seasonal financial behaviors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65760" y="3886200"/>
            <a:ext cx="5120640" cy="114300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3"/>
          <p:cNvSpPr/>
          <p:nvPr/>
        </p:nvSpPr>
        <p:spPr>
          <a:xfrm>
            <a:off x="365760" y="3886200"/>
            <a:ext cx="6400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133088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39776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Engine</a:t>
            </a: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1234440" y="43616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next-month expenses with high accuracy using historical data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760720" y="10058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Predicted Spending</a:t>
            </a:r>
            <a:endParaRPr lang="en-US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5760720" y="1417320"/>
          <a:ext cx="61264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3" name="Shape 17"/>
          <p:cNvSpPr/>
          <p:nvPr/>
        </p:nvSpPr>
        <p:spPr>
          <a:xfrm>
            <a:off x="365760" y="5102352"/>
            <a:ext cx="11430000" cy="658368"/>
          </a:xfrm>
          <a:prstGeom prst="rect">
            <a:avLst/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18"/>
          <p:cNvSpPr/>
          <p:nvPr/>
        </p:nvSpPr>
        <p:spPr>
          <a:xfrm>
            <a:off x="914400" y="51572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1900" dirty="0"/>
          </a:p>
        </p:txBody>
      </p:sp>
      <p:sp>
        <p:nvSpPr>
          <p:cNvPr id="25" name="Text 19"/>
          <p:cNvSpPr/>
          <p:nvPr/>
        </p:nvSpPr>
        <p:spPr>
          <a:xfrm>
            <a:off x="914400" y="54498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3749040" y="51572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3749040" y="54498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583680" y="51572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</a:t>
            </a:r>
            <a:endParaRPr lang="en-US" sz="1900" dirty="0"/>
          </a:p>
        </p:txBody>
      </p:sp>
      <p:sp>
        <p:nvSpPr>
          <p:cNvPr id="29" name="Text 23"/>
          <p:cNvSpPr/>
          <p:nvPr/>
        </p:nvSpPr>
        <p:spPr>
          <a:xfrm>
            <a:off x="6583680" y="54498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Window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9418320" y="51572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&lt;100ms</a:t>
            </a:r>
            <a:endParaRPr lang="en-US" sz="1900" dirty="0"/>
          </a:p>
        </p:txBody>
      </p:sp>
      <p:sp>
        <p:nvSpPr>
          <p:cNvPr id="31" name="Text 25"/>
          <p:cNvSpPr/>
          <p:nvPr/>
        </p:nvSpPr>
        <p:spPr>
          <a:xfrm>
            <a:off x="9418320" y="54498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2979FF">
              <a:alpha val="12000"/>
            </a:srgbClr>
          </a:solidFill>
          <a:ln w="12700">
            <a:solidFill>
              <a:srgbClr val="2979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Key Feature: OCR Receipt Scanner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840480" cy="45720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4389120" y="1097280"/>
            <a:ext cx="3383280" cy="5394960"/>
          </a:xfrm>
          <a:prstGeom prst="rect">
            <a:avLst/>
          </a:prstGeom>
          <a:solidFill>
            <a:srgbClr val="0A0F2E"/>
          </a:solidFill>
          <a:ln w="12700">
            <a:solidFill>
              <a:srgbClr val="2979FF"/>
            </a:solidFill>
            <a:prstDash val="solid"/>
          </a:ln>
          <a:effectLst>
            <a:outerShdw blurRad="254000" dist="635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4498848" y="1508760"/>
            <a:ext cx="3163824" cy="4572000"/>
          </a:xfrm>
          <a:prstGeom prst="rect">
            <a:avLst/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5852160" y="1207008"/>
            <a:ext cx="457200" cy="201168"/>
          </a:xfrm>
          <a:prstGeom prst="ellipse">
            <a:avLst/>
          </a:prstGeom>
          <a:solidFill>
            <a:srgbClr val="0D1440"/>
          </a:solidFill>
          <a:ln w="12700">
            <a:solidFill>
              <a:srgbClr val="0D14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5577840" y="6217920"/>
            <a:ext cx="1005840" cy="91440"/>
          </a:xfrm>
          <a:prstGeom prst="rect">
            <a:avLst/>
          </a:prstGeom>
          <a:solidFill>
            <a:srgbClr val="8898C4"/>
          </a:solidFill>
          <a:ln w="12700">
            <a:solidFill>
              <a:srgbClr val="8898C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2834640" cy="2011680"/>
          </a:xfrm>
          <a:prstGeom prst="rect">
            <a:avLst/>
          </a:prstGeom>
          <a:solidFill>
            <a:srgbClr val="0D1440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2286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64008" cy="1371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6995160" y="1691640"/>
            <a:ext cx="2286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7159752" y="1691640"/>
            <a:ext cx="64008" cy="1371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4663440" y="3291840"/>
            <a:ext cx="2286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4663440" y="3291840"/>
            <a:ext cx="64008" cy="1371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6995160" y="3291840"/>
            <a:ext cx="2286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7159752" y="3291840"/>
            <a:ext cx="64008" cy="1371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70916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SCANNING...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53712" y="3931920"/>
            <a:ext cx="3017520" cy="384048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4645152" y="39867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39867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Jun 2024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53712" y="4434840"/>
            <a:ext cx="3017520" cy="384048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4645152" y="4489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0" y="44897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1,250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53712" y="4937760"/>
            <a:ext cx="3017520" cy="384048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4645152" y="4992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4992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5532120"/>
            <a:ext cx="2286000" cy="384048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4937760" y="5532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Save to Ledger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5760" y="1234440"/>
            <a:ext cx="3657600" cy="100584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365760" y="1234440"/>
            <a:ext cx="64008" cy="1005840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35608"/>
            <a:ext cx="502920" cy="50292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170432" y="13258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ML Kit</a:t>
            </a: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1170432" y="16916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text recognition engine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365760" y="2450592"/>
            <a:ext cx="3657600" cy="100584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Shape 34"/>
          <p:cNvSpPr/>
          <p:nvPr/>
        </p:nvSpPr>
        <p:spPr>
          <a:xfrm>
            <a:off x="365760" y="2450592"/>
            <a:ext cx="64008" cy="1005840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1760"/>
            <a:ext cx="502920" cy="50292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1170432" y="25420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Time Saved</a:t>
            </a: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1170432" y="290779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entry replaces manual input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365760" y="3666744"/>
            <a:ext cx="3657600" cy="100584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2" name="Shape 38"/>
          <p:cNvSpPr/>
          <p:nvPr/>
        </p:nvSpPr>
        <p:spPr>
          <a:xfrm>
            <a:off x="365760" y="3666744"/>
            <a:ext cx="64008" cy="1005840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67912"/>
            <a:ext cx="502920" cy="50292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1170432" y="37581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3-Field Extraction</a:t>
            </a:r>
            <a:endParaRPr lang="en-US" dirty="0"/>
          </a:p>
        </p:txBody>
      </p:sp>
      <p:sp>
        <p:nvSpPr>
          <p:cNvPr id="45" name="Text 40"/>
          <p:cNvSpPr/>
          <p:nvPr/>
        </p:nvSpPr>
        <p:spPr>
          <a:xfrm>
            <a:off x="1170432" y="412394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Amount &amp; Category captured instantly</a:t>
            </a:r>
            <a:endParaRPr lang="en-US" sz="1400" dirty="0"/>
          </a:p>
        </p:txBody>
      </p:sp>
      <p:sp>
        <p:nvSpPr>
          <p:cNvPr id="46" name="Shape 41"/>
          <p:cNvSpPr/>
          <p:nvPr/>
        </p:nvSpPr>
        <p:spPr>
          <a:xfrm>
            <a:off x="365760" y="4882896"/>
            <a:ext cx="3657600" cy="100584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7" name="Shape 42"/>
          <p:cNvSpPr/>
          <p:nvPr/>
        </p:nvSpPr>
        <p:spPr>
          <a:xfrm>
            <a:off x="365760" y="4882896"/>
            <a:ext cx="64008" cy="1005840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084064"/>
            <a:ext cx="502920" cy="502920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1170432" y="4974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Ledger Sync</a:t>
            </a: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1170432" y="534009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saved directly to local Room DB</a:t>
            </a:r>
            <a:endParaRPr lang="en-US" sz="1400" dirty="0"/>
          </a:p>
        </p:txBody>
      </p:sp>
      <p:sp>
        <p:nvSpPr>
          <p:cNvPr id="51" name="Shape 45"/>
          <p:cNvSpPr/>
          <p:nvPr/>
        </p:nvSpPr>
        <p:spPr>
          <a:xfrm>
            <a:off x="8229600" y="1280160"/>
            <a:ext cx="475488" cy="47548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2" name="Text 46"/>
          <p:cNvSpPr/>
          <p:nvPr/>
        </p:nvSpPr>
        <p:spPr>
          <a:xfrm>
            <a:off x="8229600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3" name="Text 47"/>
          <p:cNvSpPr/>
          <p:nvPr/>
        </p:nvSpPr>
        <p:spPr>
          <a:xfrm>
            <a:off x="8823960" y="13258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camera at receipt</a:t>
            </a:r>
            <a:endParaRPr lang="en-US" sz="1600" dirty="0"/>
          </a:p>
        </p:txBody>
      </p:sp>
      <p:sp>
        <p:nvSpPr>
          <p:cNvPr id="54" name="Shape 48"/>
          <p:cNvSpPr/>
          <p:nvPr/>
        </p:nvSpPr>
        <p:spPr>
          <a:xfrm>
            <a:off x="8430768" y="1783080"/>
            <a:ext cx="64008" cy="685800"/>
          </a:xfrm>
          <a:prstGeom prst="rect">
            <a:avLst/>
          </a:prstGeom>
          <a:solidFill>
            <a:srgbClr val="00BCD4">
              <a:alpha val="40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5" name="Shape 49"/>
          <p:cNvSpPr/>
          <p:nvPr/>
        </p:nvSpPr>
        <p:spPr>
          <a:xfrm>
            <a:off x="8229600" y="2468880"/>
            <a:ext cx="475488" cy="47548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6" name="Text 50"/>
          <p:cNvSpPr/>
          <p:nvPr/>
        </p:nvSpPr>
        <p:spPr>
          <a:xfrm>
            <a:off x="8229600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57" name="Text 51"/>
          <p:cNvSpPr/>
          <p:nvPr/>
        </p:nvSpPr>
        <p:spPr>
          <a:xfrm>
            <a:off x="8823960" y="25146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scans text</a:t>
            </a:r>
            <a:endParaRPr lang="en-US" sz="1600" dirty="0"/>
          </a:p>
        </p:txBody>
      </p:sp>
      <p:sp>
        <p:nvSpPr>
          <p:cNvPr id="58" name="Shape 52"/>
          <p:cNvSpPr/>
          <p:nvPr/>
        </p:nvSpPr>
        <p:spPr>
          <a:xfrm>
            <a:off x="8430768" y="2971800"/>
            <a:ext cx="64008" cy="685800"/>
          </a:xfrm>
          <a:prstGeom prst="rect">
            <a:avLst/>
          </a:prstGeom>
          <a:solidFill>
            <a:srgbClr val="00BCD4">
              <a:alpha val="40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9" name="Shape 53"/>
          <p:cNvSpPr/>
          <p:nvPr/>
        </p:nvSpPr>
        <p:spPr>
          <a:xfrm>
            <a:off x="8229600" y="3657600"/>
            <a:ext cx="475488" cy="47548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0" name="Text 54"/>
          <p:cNvSpPr/>
          <p:nvPr/>
        </p:nvSpPr>
        <p:spPr>
          <a:xfrm>
            <a:off x="8229600" y="3657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61" name="Text 55"/>
          <p:cNvSpPr/>
          <p:nvPr/>
        </p:nvSpPr>
        <p:spPr>
          <a:xfrm>
            <a:off x="8823960" y="37033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parsed &amp; validated</a:t>
            </a:r>
            <a:endParaRPr lang="en-US" sz="1600" dirty="0"/>
          </a:p>
        </p:txBody>
      </p:sp>
      <p:sp>
        <p:nvSpPr>
          <p:cNvPr id="62" name="Shape 56"/>
          <p:cNvSpPr/>
          <p:nvPr/>
        </p:nvSpPr>
        <p:spPr>
          <a:xfrm>
            <a:off x="8430768" y="4160520"/>
            <a:ext cx="64008" cy="685800"/>
          </a:xfrm>
          <a:prstGeom prst="rect">
            <a:avLst/>
          </a:prstGeom>
          <a:solidFill>
            <a:srgbClr val="00BCD4">
              <a:alpha val="40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3" name="Shape 57"/>
          <p:cNvSpPr/>
          <p:nvPr/>
        </p:nvSpPr>
        <p:spPr>
          <a:xfrm>
            <a:off x="8229600" y="4846320"/>
            <a:ext cx="475488" cy="47548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4" name="Text 58"/>
          <p:cNvSpPr/>
          <p:nvPr/>
        </p:nvSpPr>
        <p:spPr>
          <a:xfrm>
            <a:off x="8229600" y="4846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65" name="Text 59"/>
          <p:cNvSpPr/>
          <p:nvPr/>
        </p:nvSpPr>
        <p:spPr>
          <a:xfrm>
            <a:off x="8823960" y="4892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Auto-saved to ledger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6400800" cy="6400800"/>
          </a:xfrm>
          <a:prstGeom prst="ellipse">
            <a:avLst/>
          </a:prstGeom>
          <a:solidFill>
            <a:srgbClr val="FFD600">
              <a:alpha val="8000"/>
            </a:srgbClr>
          </a:solidFill>
          <a:ln w="12700">
            <a:solidFill>
              <a:srgbClr val="FFD6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Key Feature: AI Voice Assistant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474720" cy="4572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2651760" cy="2651760"/>
          </a:xfrm>
          <a:prstGeom prst="ellipse">
            <a:avLst/>
          </a:prstGeom>
          <a:solidFill>
            <a:srgbClr val="FFD600">
              <a:alpha val="12000"/>
            </a:srgbClr>
          </a:solidFill>
          <a:ln w="12700">
            <a:solidFill>
              <a:srgbClr val="FFD60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5074920" y="1508760"/>
            <a:ext cx="2011680" cy="2011680"/>
          </a:xfrm>
          <a:prstGeom prst="ellipse">
            <a:avLst/>
          </a:prstGeom>
          <a:solidFill>
            <a:srgbClr val="FFD600">
              <a:alpha val="22000"/>
            </a:srgbClr>
          </a:solidFill>
          <a:ln w="12700">
            <a:solidFill>
              <a:srgbClr val="FFD6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FFD600">
              <a:alpha val="35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965960"/>
            <a:ext cx="1097280" cy="10972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931920" y="4105656"/>
            <a:ext cx="128016" cy="10972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8"/>
          <p:cNvSpPr/>
          <p:nvPr/>
        </p:nvSpPr>
        <p:spPr>
          <a:xfrm>
            <a:off x="4160520" y="4046220"/>
            <a:ext cx="128016" cy="2286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4389120" y="3968496"/>
            <a:ext cx="128016" cy="38404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0"/>
          <p:cNvSpPr/>
          <p:nvPr/>
        </p:nvSpPr>
        <p:spPr>
          <a:xfrm>
            <a:off x="4617720" y="4023360"/>
            <a:ext cx="128016" cy="27432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1"/>
          <p:cNvSpPr/>
          <p:nvPr/>
        </p:nvSpPr>
        <p:spPr>
          <a:xfrm>
            <a:off x="4846320" y="4078224"/>
            <a:ext cx="128016" cy="16459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2"/>
          <p:cNvSpPr/>
          <p:nvPr/>
        </p:nvSpPr>
        <p:spPr>
          <a:xfrm>
            <a:off x="5074920" y="3986784"/>
            <a:ext cx="128016" cy="34747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3"/>
          <p:cNvSpPr/>
          <p:nvPr/>
        </p:nvSpPr>
        <p:spPr>
          <a:xfrm>
            <a:off x="5303520" y="4059936"/>
            <a:ext cx="128016" cy="20116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5532120" y="3954780"/>
            <a:ext cx="128016" cy="41148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5"/>
          <p:cNvSpPr/>
          <p:nvPr/>
        </p:nvSpPr>
        <p:spPr>
          <a:xfrm>
            <a:off x="5760720" y="4032504"/>
            <a:ext cx="128016" cy="25603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6"/>
          <p:cNvSpPr/>
          <p:nvPr/>
        </p:nvSpPr>
        <p:spPr>
          <a:xfrm>
            <a:off x="5989320" y="4091940"/>
            <a:ext cx="128016" cy="13716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7"/>
          <p:cNvSpPr/>
          <p:nvPr/>
        </p:nvSpPr>
        <p:spPr>
          <a:xfrm>
            <a:off x="457200" y="1280160"/>
            <a:ext cx="3017520" cy="594360"/>
          </a:xfrm>
          <a:prstGeom prst="rect">
            <a:avLst/>
          </a:prstGeom>
          <a:solidFill>
            <a:srgbClr val="1A2550"/>
          </a:solidFill>
          <a:ln w="12700">
            <a:solidFill>
              <a:srgbClr val="2979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051560" y="13533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"Check my balance"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8686800" y="2514600"/>
            <a:ext cx="3017520" cy="594360"/>
          </a:xfrm>
          <a:prstGeom prst="rect">
            <a:avLst/>
          </a:prstGeom>
          <a:solidFill>
            <a:srgbClr val="121A3E"/>
          </a:solidFill>
          <a:ln w="12700">
            <a:solidFill>
              <a:srgbClr val="FFD6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2606040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281160" y="25877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500 for lunch"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457200" y="3749040"/>
            <a:ext cx="3017520" cy="594360"/>
          </a:xfrm>
          <a:prstGeom prst="rect">
            <a:avLst/>
          </a:prstGeom>
          <a:solidFill>
            <a:srgbClr val="1A2550"/>
          </a:solidFill>
          <a:ln w="12700">
            <a:solidFill>
              <a:srgbClr val="2979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0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51560" y="38221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this month expenses"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8686800" y="4983480"/>
            <a:ext cx="3017520" cy="594360"/>
          </a:xfrm>
          <a:prstGeom prst="rect">
            <a:avLst/>
          </a:prstGeom>
          <a:solidFill>
            <a:srgbClr val="121A3E"/>
          </a:solidFill>
          <a:ln w="12700">
            <a:solidFill>
              <a:srgbClr val="FFD6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5074920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281160" y="50566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"Predict next month"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365760" y="5029200"/>
            <a:ext cx="11430000" cy="1508760"/>
          </a:xfrm>
          <a:prstGeom prst="rect">
            <a:avLst/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38928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463040" y="51389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Engine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1463040" y="5532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core</a:t>
            </a:r>
            <a:endParaRPr lang="en-US" sz="14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5138928"/>
            <a:ext cx="457200" cy="4572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251960" y="51389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38" name="Text 29"/>
          <p:cNvSpPr/>
          <p:nvPr/>
        </p:nvSpPr>
        <p:spPr>
          <a:xfrm>
            <a:off x="4251960" y="5532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voice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4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5138928"/>
            <a:ext cx="457200" cy="45720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040880" y="51389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</a:t>
            </a:r>
            <a:endParaRPr lang="en-US" sz="1600" dirty="0"/>
          </a:p>
        </p:txBody>
      </p:sp>
      <p:sp>
        <p:nvSpPr>
          <p:cNvPr id="41" name="Text 31"/>
          <p:cNvSpPr/>
          <p:nvPr/>
        </p:nvSpPr>
        <p:spPr>
          <a:xfrm>
            <a:off x="7040880" y="5532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while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multitasking</a:t>
            </a:r>
            <a:endParaRPr lang="en-US" sz="140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138928"/>
            <a:ext cx="457200" cy="45720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9829800" y="51389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Context</a:t>
            </a:r>
            <a:endParaRPr lang="en-US" sz="1600" dirty="0"/>
          </a:p>
        </p:txBody>
      </p:sp>
      <p:sp>
        <p:nvSpPr>
          <p:cNvPr id="44" name="Text 33"/>
          <p:cNvSpPr/>
          <p:nvPr/>
        </p:nvSpPr>
        <p:spPr>
          <a:xfrm>
            <a:off x="9829800" y="5532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terms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Dashboard &amp; User Experience (UX)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41148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943600" cy="4663440"/>
          </a:xfrm>
          <a:prstGeom prst="rect">
            <a:avLst/>
          </a:prstGeom>
          <a:solidFill>
            <a:srgbClr val="1A2550"/>
          </a:solidFill>
          <a:ln w="12700">
            <a:solidFill>
              <a:srgbClr val="7C3AED"/>
            </a:solidFill>
            <a:prstDash val="solid"/>
          </a:ln>
          <a:effectLst>
            <a:outerShdw blurRad="2032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943600" cy="502920"/>
          </a:xfrm>
          <a:prstGeom prst="rect">
            <a:avLst/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FinIntelligence  —  Dashboard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30352" y="1737360"/>
            <a:ext cx="1783080" cy="822960"/>
          </a:xfrm>
          <a:prstGeom prst="rect">
            <a:avLst/>
          </a:prstGeom>
          <a:solidFill>
            <a:srgbClr val="0D1440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30352" y="1783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45,200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21945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50592" y="1737360"/>
            <a:ext cx="1783080" cy="822960"/>
          </a:xfrm>
          <a:prstGeom prst="rect">
            <a:avLst/>
          </a:prstGeom>
          <a:solidFill>
            <a:srgbClr val="0D1440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2450592" y="1783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12,800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50592" y="21945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70832" y="1737360"/>
            <a:ext cx="1783080" cy="822960"/>
          </a:xfrm>
          <a:prstGeom prst="rect">
            <a:avLst/>
          </a:prstGeom>
          <a:solidFill>
            <a:srgbClr val="0D1440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4370832" y="1783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8,500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70832" y="21945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12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502920" y="2724912"/>
          <a:ext cx="35661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"/>
          <p:cNvGraphicFramePr/>
          <p:nvPr/>
        </p:nvGraphicFramePr>
        <p:xfrm>
          <a:off x="4160520" y="2724912"/>
          <a:ext cx="201168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Shape 16"/>
          <p:cNvSpPr/>
          <p:nvPr/>
        </p:nvSpPr>
        <p:spPr>
          <a:xfrm>
            <a:off x="502920" y="4709160"/>
            <a:ext cx="2743200" cy="438912"/>
          </a:xfrm>
          <a:prstGeom prst="rect">
            <a:avLst/>
          </a:prstGeom>
          <a:solidFill>
            <a:srgbClr val="0A0F2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7"/>
          <p:cNvSpPr/>
          <p:nvPr/>
        </p:nvSpPr>
        <p:spPr>
          <a:xfrm>
            <a:off x="502920" y="47091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Dark Mode  ●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3429000" y="4709160"/>
            <a:ext cx="2743200" cy="438912"/>
          </a:xfrm>
          <a:prstGeom prst="rect">
            <a:avLst/>
          </a:prstGeom>
          <a:solidFill>
            <a:srgbClr val="0A0F2E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19"/>
          <p:cNvSpPr/>
          <p:nvPr/>
        </p:nvSpPr>
        <p:spPr>
          <a:xfrm>
            <a:off x="3429000" y="47091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Real-time Analytics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583680" y="1097280"/>
            <a:ext cx="5212080" cy="100584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1"/>
          <p:cNvSpPr/>
          <p:nvPr/>
        </p:nvSpPr>
        <p:spPr>
          <a:xfrm>
            <a:off x="6583680" y="109728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1298448"/>
            <a:ext cx="502920" cy="5029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406640" y="11887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3 Design</a:t>
            </a: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7406640" y="155448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UI following Google's latest design guidelines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6583680" y="2267712"/>
            <a:ext cx="5212080" cy="100584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5"/>
          <p:cNvSpPr/>
          <p:nvPr/>
        </p:nvSpPr>
        <p:spPr>
          <a:xfrm>
            <a:off x="6583680" y="2267712"/>
            <a:ext cx="64008" cy="10058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2468880"/>
            <a:ext cx="502920" cy="5029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406640" y="235915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7406640" y="272491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spending updates with category breakdown charts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6583680" y="3438144"/>
            <a:ext cx="5212080" cy="100584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5" name="Shape 29"/>
          <p:cNvSpPr/>
          <p:nvPr/>
        </p:nvSpPr>
        <p:spPr>
          <a:xfrm>
            <a:off x="6583680" y="3438144"/>
            <a:ext cx="64008" cy="100584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3639312"/>
            <a:ext cx="502920" cy="5029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406640" y="35295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Animations</a:t>
            </a: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7406640" y="389534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transitions for an app-store quality experience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583680" y="4608576"/>
            <a:ext cx="5212080" cy="100584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0" name="Shape 33"/>
          <p:cNvSpPr/>
          <p:nvPr/>
        </p:nvSpPr>
        <p:spPr>
          <a:xfrm>
            <a:off x="6583680" y="4608576"/>
            <a:ext cx="64008" cy="1005840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4809744"/>
            <a:ext cx="502920" cy="50292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406640" y="470001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</a:t>
            </a: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7406640" y="506577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all Android screen sizes and densities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63296"/>
            <a:ext cx="73152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pPr defTabSz="1219170">
              <a:defRPr/>
            </a:pPr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75360" y="426720"/>
            <a:ext cx="609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2000" b="1" kern="0" spc="533" dirty="0">
                <a:solidFill>
                  <a:srgbClr val="8B5CF6"/>
                </a:solidFill>
                <a:latin typeface="Agency FB" panose="020B0503020202020204" pitchFamily="34" charset="0"/>
                <a:ea typeface="Calibri" pitchFamily="34" charset="-122"/>
                <a:cs typeface="Calibri" pitchFamily="34" charset="-120"/>
              </a:rPr>
              <a:t>MARKET LANDSCAPE</a:t>
            </a:r>
            <a:endParaRPr lang="en-US" sz="2000" dirty="0">
              <a:solidFill>
                <a:prstClr val="black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072896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The Competitive Arena</a:t>
            </a:r>
            <a:endParaRPr lang="en-US" sz="3200" dirty="0">
              <a:solidFill>
                <a:prstClr val="black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950720"/>
            <a:ext cx="2097024" cy="2011680"/>
          </a:xfrm>
          <a:prstGeom prst="rect">
            <a:avLst/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defTabSz="1219170">
              <a:defRPr/>
            </a:pPr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950720"/>
            <a:ext cx="2097024" cy="975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pPr defTabSz="1219170">
              <a:defRPr/>
            </a:pPr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6176" y="2133600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6176" y="2621280"/>
            <a:ext cx="1889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Wide adoption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6176" y="3145536"/>
            <a:ext cx="18897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Shutting down, poor AI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91968" y="1950720"/>
            <a:ext cx="2097024" cy="2011680"/>
          </a:xfrm>
          <a:prstGeom prst="rect">
            <a:avLst/>
          </a:prstGeom>
          <a:solidFill>
            <a:srgbClr val="1E293B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defTabSz="1219170">
              <a:defRPr/>
            </a:pPr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91968" y="1950720"/>
            <a:ext cx="2097024" cy="975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pPr defTabSz="1219170">
              <a:defRPr/>
            </a:pPr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889504" y="2133600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YNAB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889504" y="2621280"/>
            <a:ext cx="1889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Strong budgeting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889504" y="3145536"/>
            <a:ext cx="18897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$15/mo subscription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35296" y="1950720"/>
            <a:ext cx="2097024" cy="2011680"/>
          </a:xfrm>
          <a:prstGeom prst="rect">
            <a:avLst/>
          </a:prstGeom>
          <a:solidFill>
            <a:srgbClr val="1E293B"/>
          </a:solidFill>
          <a:ln w="1524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defTabSz="1219170">
              <a:defRPr/>
            </a:pPr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35296" y="1950720"/>
            <a:ext cx="2097024" cy="975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pPr defTabSz="1219170">
              <a:defRPr/>
            </a:pPr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132832" y="2133600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PocketGuard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32832" y="2621280"/>
            <a:ext cx="1889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Spending limits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32832" y="3145536"/>
            <a:ext cx="18897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Limited automation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278624" y="1950720"/>
            <a:ext cx="2097024" cy="2011680"/>
          </a:xfrm>
          <a:prstGeom prst="rect">
            <a:avLst/>
          </a:prstGeom>
          <a:solidFill>
            <a:srgbClr val="1E293B"/>
          </a:solidFill>
          <a:ln w="1524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defTabSz="1219170">
              <a:defRPr/>
            </a:pPr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278624" y="1950720"/>
            <a:ext cx="2097024" cy="975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pPr defTabSz="1219170">
              <a:defRPr/>
            </a:pPr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76160" y="2133600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Expensify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76160" y="2621280"/>
            <a:ext cx="1889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Receipt scanning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76160" y="3145536"/>
            <a:ext cx="18897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Business-focused, complex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521952" y="1950720"/>
            <a:ext cx="2097024" cy="2011680"/>
          </a:xfrm>
          <a:prstGeom prst="rect">
            <a:avLst/>
          </a:prstGeom>
          <a:solidFill>
            <a:srgbClr val="1E293B"/>
          </a:solidFill>
          <a:ln w="1524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defTabSz="1219170">
              <a:defRPr/>
            </a:pPr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521952" y="1950720"/>
            <a:ext cx="2097024" cy="9753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  <p:txBody>
          <a:bodyPr/>
          <a:lstStyle/>
          <a:p>
            <a:pPr defTabSz="1219170">
              <a:defRPr/>
            </a:pPr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619488" y="2133600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619488" y="2621280"/>
            <a:ext cx="1889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Multi-currency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619488" y="3145536"/>
            <a:ext cx="18897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Poor Android UX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4206240"/>
            <a:ext cx="2097024" cy="2011680"/>
          </a:xfrm>
          <a:prstGeom prst="rect">
            <a:avLst/>
          </a:prstGeom>
          <a:solidFill>
            <a:srgbClr val="1E293B"/>
          </a:solidFill>
          <a:ln w="1524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defTabSz="1219170">
              <a:defRPr/>
            </a:pPr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8640" y="4206240"/>
            <a:ext cx="2097024" cy="975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pPr defTabSz="1219170">
              <a:defRPr/>
            </a:pPr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6176" y="4389120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Manager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6176" y="4876800"/>
            <a:ext cx="1889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Detailed reports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46176" y="5401056"/>
            <a:ext cx="18897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Outdated UI, manual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791968" y="4206240"/>
            <a:ext cx="2097024" cy="2011680"/>
          </a:xfrm>
          <a:prstGeom prst="rect">
            <a:avLst/>
          </a:prstGeom>
          <a:solidFill>
            <a:srgbClr val="1E293B"/>
          </a:solidFill>
          <a:ln w="1524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defTabSz="1219170">
              <a:defRPr/>
            </a:pPr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791968" y="4206240"/>
            <a:ext cx="2097024" cy="975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pPr defTabSz="1219170">
              <a:defRPr/>
            </a:pPr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889504" y="4389120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 Money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889504" y="4876800"/>
            <a:ext cx="1889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Bill tracking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889504" y="5401056"/>
            <a:ext cx="18897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US-only, expensive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035296" y="4206240"/>
            <a:ext cx="2097024" cy="2011680"/>
          </a:xfrm>
          <a:prstGeom prst="rect">
            <a:avLst/>
          </a:prstGeom>
          <a:solidFill>
            <a:srgbClr val="1E293B"/>
          </a:solidFill>
          <a:ln w="15240">
            <a:solidFill>
              <a:srgbClr val="84CC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defTabSz="1219170">
              <a:defRPr/>
            </a:pPr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035296" y="4206240"/>
            <a:ext cx="2097024" cy="97536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>
                <a:alpha val="0"/>
              </a:srgbClr>
            </a:solidFill>
            <a:prstDash val="solid"/>
          </a:ln>
        </p:spPr>
        <p:txBody>
          <a:bodyPr/>
          <a:lstStyle/>
          <a:p>
            <a:pPr defTabSz="1219170">
              <a:defRPr/>
            </a:pPr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132832" y="4389120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Goodbudget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132832" y="4876800"/>
            <a:ext cx="1889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Envelope method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132832" y="5401056"/>
            <a:ext cx="18897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bank sync/AI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278624" y="4206240"/>
            <a:ext cx="2097024" cy="2011680"/>
          </a:xfrm>
          <a:prstGeom prst="rect">
            <a:avLst/>
          </a:prstGeom>
          <a:solidFill>
            <a:srgbClr val="1E293B"/>
          </a:solidFill>
          <a:ln w="1524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defTabSz="1219170">
              <a:defRPr/>
            </a:pPr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278624" y="4206240"/>
            <a:ext cx="2097024" cy="9753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pPr defTabSz="1219170">
              <a:defRPr/>
            </a:pPr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376160" y="4389120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Spendee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376160" y="4876800"/>
            <a:ext cx="1889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Clean design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376160" y="5401056"/>
            <a:ext cx="18897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Limited features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521952" y="4206240"/>
            <a:ext cx="2097024" cy="2011680"/>
          </a:xfrm>
          <a:prstGeom prst="rect">
            <a:avLst/>
          </a:prstGeom>
          <a:solidFill>
            <a:srgbClr val="1E293B"/>
          </a:solidFill>
          <a:ln w="15240">
            <a:solidFill>
              <a:srgbClr val="FB92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defTabSz="1219170">
              <a:defRPr/>
            </a:pPr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9521952" y="4206240"/>
            <a:ext cx="2097024" cy="9753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  <p:txBody>
          <a:bodyPr/>
          <a:lstStyle/>
          <a:p>
            <a:pPr defTabSz="1219170">
              <a:defRPr/>
            </a:pPr>
            <a:endParaRPr lang="en-PK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619488" y="4389120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Firefly III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9619488" y="4876800"/>
            <a:ext cx="1889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Self-hosted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619488" y="5401056"/>
            <a:ext cx="18897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Technical only, complex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Competitor Analysis — Why FinIntelligence?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029200" cy="457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2560320" cy="475488"/>
          </a:xfrm>
          <a:prstGeom prst="rect">
            <a:avLst/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71800" y="1078992"/>
            <a:ext cx="2286000" cy="475488"/>
          </a:xfrm>
          <a:prstGeom prst="rect">
            <a:avLst/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2971800" y="107899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3520" y="1078992"/>
            <a:ext cx="2286000" cy="475488"/>
          </a:xfrm>
          <a:prstGeom prst="rect">
            <a:avLst/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303520" y="107899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Apps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35240" y="1078992"/>
            <a:ext cx="2743200" cy="475488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7635240" y="107899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FinIntelligence 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2560320" cy="475488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365760" y="15819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71800" y="1581912"/>
            <a:ext cx="2286000" cy="475488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2971800" y="158191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0" y="1581912"/>
            <a:ext cx="2286000" cy="475488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5303520" y="158191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35240" y="1581912"/>
            <a:ext cx="2743200" cy="475488"/>
          </a:xfrm>
          <a:prstGeom prst="rect">
            <a:avLst/>
          </a:prstGeom>
          <a:solidFill>
            <a:srgbClr val="0D2A5E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7635240" y="158191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via OCR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2093976"/>
            <a:ext cx="2560320" cy="475488"/>
          </a:xfrm>
          <a:prstGeom prst="rect">
            <a:avLst/>
          </a:prstGeom>
          <a:solidFill>
            <a:srgbClr val="0D1440"/>
          </a:solidFill>
          <a:ln w="12700">
            <a:solidFill>
              <a:srgbClr val="0D14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365760" y="209397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971800" y="2093976"/>
            <a:ext cx="2286000" cy="475488"/>
          </a:xfrm>
          <a:prstGeom prst="rect">
            <a:avLst/>
          </a:prstGeom>
          <a:solidFill>
            <a:srgbClr val="0D1440"/>
          </a:solidFill>
          <a:ln w="12700">
            <a:solidFill>
              <a:srgbClr val="0D14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2971800" y="209397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03520" y="2093976"/>
            <a:ext cx="2286000" cy="475488"/>
          </a:xfrm>
          <a:prstGeom prst="rect">
            <a:avLst/>
          </a:prstGeom>
          <a:solidFill>
            <a:srgbClr val="0D1440"/>
          </a:solidFill>
          <a:ln w="12700">
            <a:solidFill>
              <a:srgbClr val="0D14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5303520" y="209397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35240" y="2093976"/>
            <a:ext cx="2743200" cy="475488"/>
          </a:xfrm>
          <a:prstGeom prst="rect">
            <a:avLst/>
          </a:prstGeom>
          <a:solidFill>
            <a:srgbClr val="0D2A5E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7635240" y="209397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ML Model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5760" y="2606040"/>
            <a:ext cx="2560320" cy="475488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365760" y="26060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Scanning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971800" y="2606040"/>
            <a:ext cx="2286000" cy="475488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2971800" y="26060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303520" y="2606040"/>
            <a:ext cx="2286000" cy="475488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5303520" y="26060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635240" y="2606040"/>
            <a:ext cx="2743200" cy="475488"/>
          </a:xfrm>
          <a:prstGeom prst="rect">
            <a:avLst/>
          </a:prstGeom>
          <a:solidFill>
            <a:srgbClr val="0D2A5E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7635240" y="26060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ML Kit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65760" y="3118104"/>
            <a:ext cx="2560320" cy="475488"/>
          </a:xfrm>
          <a:prstGeom prst="rect">
            <a:avLst/>
          </a:prstGeom>
          <a:solidFill>
            <a:srgbClr val="0D1440"/>
          </a:solidFill>
          <a:ln w="12700">
            <a:solidFill>
              <a:srgbClr val="0D14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365760" y="311810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Control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971800" y="3118104"/>
            <a:ext cx="2286000" cy="475488"/>
          </a:xfrm>
          <a:prstGeom prst="rect">
            <a:avLst/>
          </a:prstGeom>
          <a:solidFill>
            <a:srgbClr val="0D1440"/>
          </a:solidFill>
          <a:ln w="12700">
            <a:solidFill>
              <a:srgbClr val="0D14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2971800" y="311810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303520" y="3118104"/>
            <a:ext cx="2286000" cy="475488"/>
          </a:xfrm>
          <a:prstGeom prst="rect">
            <a:avLst/>
          </a:prstGeom>
          <a:solidFill>
            <a:srgbClr val="0D1440"/>
          </a:solidFill>
          <a:ln w="12700">
            <a:solidFill>
              <a:srgbClr val="0D14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/>
          <p:nvPr/>
        </p:nvSpPr>
        <p:spPr>
          <a:xfrm>
            <a:off x="5303520" y="311810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635240" y="3118104"/>
            <a:ext cx="2743200" cy="475488"/>
          </a:xfrm>
          <a:prstGeom prst="rect">
            <a:avLst/>
          </a:prstGeom>
          <a:solidFill>
            <a:srgbClr val="0D2A5E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7635240" y="311810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NLP Support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3630168"/>
            <a:ext cx="2560320" cy="475488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Text 44"/>
          <p:cNvSpPr/>
          <p:nvPr/>
        </p:nvSpPr>
        <p:spPr>
          <a:xfrm>
            <a:off x="365760" y="36301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Privacy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971800" y="3630168"/>
            <a:ext cx="2286000" cy="475488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8" name="Text 46"/>
          <p:cNvSpPr/>
          <p:nvPr/>
        </p:nvSpPr>
        <p:spPr>
          <a:xfrm>
            <a:off x="2971800" y="36301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</a:t>
            </a:r>
            <a:r>
              <a:rPr lang="en-US" sz="12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303520" y="3630168"/>
            <a:ext cx="2286000" cy="475488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/>
          <p:nvPr/>
        </p:nvSpPr>
        <p:spPr>
          <a:xfrm>
            <a:off x="5303520" y="36301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only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635240" y="3630168"/>
            <a:ext cx="2743200" cy="475488"/>
          </a:xfrm>
          <a:prstGeom prst="rect">
            <a:avLst/>
          </a:prstGeom>
          <a:solidFill>
            <a:srgbClr val="0D2A5E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2" name="Text 50"/>
          <p:cNvSpPr/>
          <p:nvPr/>
        </p:nvSpPr>
        <p:spPr>
          <a:xfrm>
            <a:off x="7635240" y="36301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DB Local-First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365760" y="4142232"/>
            <a:ext cx="2560320" cy="475488"/>
          </a:xfrm>
          <a:prstGeom prst="rect">
            <a:avLst/>
          </a:prstGeom>
          <a:solidFill>
            <a:srgbClr val="0D1440"/>
          </a:solidFill>
          <a:ln w="12700">
            <a:solidFill>
              <a:srgbClr val="0D14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4" name="Text 52"/>
          <p:cNvSpPr/>
          <p:nvPr/>
        </p:nvSpPr>
        <p:spPr>
          <a:xfrm>
            <a:off x="365760" y="414223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2971800" y="4142232"/>
            <a:ext cx="2286000" cy="475488"/>
          </a:xfrm>
          <a:prstGeom prst="rect">
            <a:avLst/>
          </a:prstGeom>
          <a:solidFill>
            <a:srgbClr val="0D1440"/>
          </a:solidFill>
          <a:ln w="12700">
            <a:solidFill>
              <a:srgbClr val="0D14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6" name="Text 54"/>
          <p:cNvSpPr/>
          <p:nvPr/>
        </p:nvSpPr>
        <p:spPr>
          <a:xfrm>
            <a:off x="2971800" y="414223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303520" y="4142232"/>
            <a:ext cx="2286000" cy="475488"/>
          </a:xfrm>
          <a:prstGeom prst="rect">
            <a:avLst/>
          </a:prstGeom>
          <a:solidFill>
            <a:srgbClr val="0D1440"/>
          </a:solidFill>
          <a:ln w="12700">
            <a:solidFill>
              <a:srgbClr val="0D14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8" name="Text 56"/>
          <p:cNvSpPr/>
          <p:nvPr/>
        </p:nvSpPr>
        <p:spPr>
          <a:xfrm>
            <a:off x="5303520" y="414223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635240" y="4142232"/>
            <a:ext cx="2743200" cy="475488"/>
          </a:xfrm>
          <a:prstGeom prst="rect">
            <a:avLst/>
          </a:prstGeom>
          <a:solidFill>
            <a:srgbClr val="0D2A5E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0" name="Text 58"/>
          <p:cNvSpPr/>
          <p:nvPr/>
        </p:nvSpPr>
        <p:spPr>
          <a:xfrm>
            <a:off x="7635240" y="41422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Offline Support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365760" y="4654296"/>
            <a:ext cx="2560320" cy="475488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2" name="Text 60"/>
          <p:cNvSpPr/>
          <p:nvPr/>
        </p:nvSpPr>
        <p:spPr>
          <a:xfrm>
            <a:off x="365760" y="465429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ML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2971800" y="4654296"/>
            <a:ext cx="2286000" cy="475488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4" name="Text 62"/>
          <p:cNvSpPr/>
          <p:nvPr/>
        </p:nvSpPr>
        <p:spPr>
          <a:xfrm>
            <a:off x="2971800" y="465429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303520" y="4654296"/>
            <a:ext cx="2286000" cy="475488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6" name="Text 64"/>
          <p:cNvSpPr/>
          <p:nvPr/>
        </p:nvSpPr>
        <p:spPr>
          <a:xfrm>
            <a:off x="5303520" y="465429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7635240" y="4654296"/>
            <a:ext cx="2743200" cy="475488"/>
          </a:xfrm>
          <a:prstGeom prst="rect">
            <a:avLst/>
          </a:prstGeom>
          <a:solidFill>
            <a:srgbClr val="0D2A5E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8" name="Text 66"/>
          <p:cNvSpPr/>
          <p:nvPr/>
        </p:nvSpPr>
        <p:spPr>
          <a:xfrm>
            <a:off x="7635240" y="465429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Customizable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365760" y="5138928"/>
            <a:ext cx="11430000" cy="1417320"/>
          </a:xfrm>
          <a:prstGeom prst="rect">
            <a:avLst/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0" name="Text 68"/>
          <p:cNvSpPr/>
          <p:nvPr/>
        </p:nvSpPr>
        <p:spPr>
          <a:xfrm>
            <a:off x="640080" y="519379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FinIntelligence Advantage</a:t>
            </a:r>
            <a:endParaRPr lang="en-US" dirty="0"/>
          </a:p>
        </p:txBody>
      </p:sp>
      <p:sp>
        <p:nvSpPr>
          <p:cNvPr id="71" name="Shape 69"/>
          <p:cNvSpPr/>
          <p:nvPr/>
        </p:nvSpPr>
        <p:spPr>
          <a:xfrm>
            <a:off x="640080" y="5559552"/>
            <a:ext cx="2606040" cy="804672"/>
          </a:xfrm>
          <a:prstGeom prst="rect">
            <a:avLst/>
          </a:prstGeom>
          <a:solidFill>
            <a:srgbClr val="0D1440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2" name="Text 70"/>
          <p:cNvSpPr/>
          <p:nvPr/>
        </p:nvSpPr>
        <p:spPr>
          <a:xfrm>
            <a:off x="640080" y="5559552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Automated OCR Entry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3429000" y="5559552"/>
            <a:ext cx="2606040" cy="804672"/>
          </a:xfrm>
          <a:prstGeom prst="rect">
            <a:avLst/>
          </a:prstGeom>
          <a:solidFill>
            <a:srgbClr val="0D1440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4" name="Text 72"/>
          <p:cNvSpPr/>
          <p:nvPr/>
        </p:nvSpPr>
        <p:spPr>
          <a:xfrm>
            <a:off x="3429000" y="5559552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Predictive Insights (XGBoost)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217920" y="5559552"/>
            <a:ext cx="2606040" cy="804672"/>
          </a:xfrm>
          <a:prstGeom prst="rect">
            <a:avLst/>
          </a:prstGeom>
          <a:solidFill>
            <a:srgbClr val="0D1440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6" name="Text 74"/>
          <p:cNvSpPr/>
          <p:nvPr/>
        </p:nvSpPr>
        <p:spPr>
          <a:xfrm>
            <a:off x="6217920" y="5559552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Local-First Privacy (Room DB)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006840" y="5559552"/>
            <a:ext cx="2606040" cy="804672"/>
          </a:xfrm>
          <a:prstGeom prst="rect">
            <a:avLst/>
          </a:prstGeom>
          <a:solidFill>
            <a:srgbClr val="0D1440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8" name="Text 76"/>
          <p:cNvSpPr/>
          <p:nvPr/>
        </p:nvSpPr>
        <p:spPr>
          <a:xfrm>
            <a:off x="9006840" y="5559552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Offline Support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743200"/>
            <a:ext cx="4572000" cy="4572000"/>
          </a:xfrm>
          <a:prstGeom prst="ellipse">
            <a:avLst/>
          </a:prstGeom>
          <a:solidFill>
            <a:srgbClr val="2979FF">
              <a:alpha val="10000"/>
            </a:srgbClr>
          </a:solidFill>
          <a:ln w="12700">
            <a:solidFill>
              <a:srgbClr val="2979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Tech Stack — Frontend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2743200" cy="45720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669280" cy="2103120"/>
          </a:xfrm>
          <a:prstGeom prst="rect">
            <a:avLst/>
          </a:prstGeom>
          <a:solidFill>
            <a:srgbClr val="1A2550"/>
          </a:solidFill>
          <a:ln w="12700">
            <a:solidFill>
              <a:srgbClr val="2979FF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4206240" y="1252728"/>
            <a:ext cx="1691640" cy="320040"/>
          </a:xfrm>
          <a:prstGeom prst="rect">
            <a:avLst/>
          </a:prstGeom>
          <a:solidFill>
            <a:srgbClr val="2979FF">
              <a:alpha val="40000"/>
            </a:srgbClr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4206240" y="12527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Framework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1005840" cy="1005840"/>
          </a:xfrm>
          <a:prstGeom prst="ellipse">
            <a:avLst/>
          </a:prstGeom>
          <a:solidFill>
            <a:srgbClr val="2979FF">
              <a:alpha val="22000"/>
            </a:srgbClr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755648"/>
            <a:ext cx="77724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45920" y="125272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Native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645920" y="169164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Kotlin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645920" y="205740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Platform-optimized performance with full hardware access and OS integration for a native mobile experience.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63640" y="1143000"/>
            <a:ext cx="5669280" cy="2103120"/>
          </a:xfrm>
          <a:prstGeom prst="rect">
            <a:avLst/>
          </a:prstGeom>
          <a:solidFill>
            <a:srgbClr val="1A2550"/>
          </a:solidFill>
          <a:ln w="12700">
            <a:solidFill>
              <a:srgbClr val="00BCD4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2"/>
          <p:cNvSpPr/>
          <p:nvPr/>
        </p:nvSpPr>
        <p:spPr>
          <a:xfrm>
            <a:off x="10104120" y="1252728"/>
            <a:ext cx="1691640" cy="320040"/>
          </a:xfrm>
          <a:prstGeom prst="rect">
            <a:avLst/>
          </a:prstGeom>
          <a:solidFill>
            <a:srgbClr val="00BCD4">
              <a:alpha val="40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10104120" y="12527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0" y="1645920"/>
            <a:ext cx="1005840" cy="1005840"/>
          </a:xfrm>
          <a:prstGeom prst="ellipse">
            <a:avLst/>
          </a:prstGeom>
          <a:solidFill>
            <a:srgbClr val="00BCD4">
              <a:alpha val="22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1755648"/>
            <a:ext cx="777240" cy="7772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543800" y="125272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Architecture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7543800" y="169164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Model-View-ViewModel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543800" y="205740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concerns ensuring maintainability, testability, and scalable codebase structure.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365760" y="3474720"/>
            <a:ext cx="5669280" cy="2103120"/>
          </a:xfrm>
          <a:prstGeom prst="rect">
            <a:avLst/>
          </a:prstGeom>
          <a:solidFill>
            <a:srgbClr val="1A2550"/>
          </a:solidFill>
          <a:ln w="1270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19"/>
          <p:cNvSpPr/>
          <p:nvPr/>
        </p:nvSpPr>
        <p:spPr>
          <a:xfrm>
            <a:off x="4206240" y="3584448"/>
            <a:ext cx="1691640" cy="320040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0"/>
          <p:cNvSpPr/>
          <p:nvPr/>
        </p:nvSpPr>
        <p:spPr>
          <a:xfrm>
            <a:off x="4206240" y="35844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Library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02920" y="3977640"/>
            <a:ext cx="1005840" cy="100584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4087368"/>
            <a:ext cx="777240" cy="7772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645920" y="358444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MPAndroidChart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1645920" y="40233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1645920" y="438912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charting library for animated, interactive financial graphs and analytics widgets.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6263640" y="3474720"/>
            <a:ext cx="5669280" cy="2103120"/>
          </a:xfrm>
          <a:prstGeom prst="rect">
            <a:avLst/>
          </a:prstGeom>
          <a:solidFill>
            <a:srgbClr val="1A2550"/>
          </a:solidFill>
          <a:ln w="12700">
            <a:solidFill>
              <a:srgbClr val="FFD600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6"/>
          <p:cNvSpPr/>
          <p:nvPr/>
        </p:nvSpPr>
        <p:spPr>
          <a:xfrm>
            <a:off x="10104120" y="3584448"/>
            <a:ext cx="1691640" cy="320040"/>
          </a:xfrm>
          <a:prstGeom prst="rect">
            <a:avLst/>
          </a:prstGeom>
          <a:solidFill>
            <a:srgbClr val="FFD600">
              <a:alpha val="4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27"/>
          <p:cNvSpPr/>
          <p:nvPr/>
        </p:nvSpPr>
        <p:spPr>
          <a:xfrm>
            <a:off x="10104120" y="35844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400800" y="3977640"/>
            <a:ext cx="1005840" cy="1005840"/>
          </a:xfrm>
          <a:prstGeom prst="ellipse">
            <a:avLst/>
          </a:prstGeom>
          <a:solidFill>
            <a:srgbClr val="FFD600">
              <a:alpha val="22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4087368"/>
            <a:ext cx="777240" cy="77724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543800" y="358444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Components</a:t>
            </a:r>
            <a:endParaRPr lang="en-US" sz="2000" dirty="0"/>
          </a:p>
        </p:txBody>
      </p:sp>
      <p:sp>
        <p:nvSpPr>
          <p:cNvPr id="36" name="Text 30"/>
          <p:cNvSpPr/>
          <p:nvPr/>
        </p:nvSpPr>
        <p:spPr>
          <a:xfrm>
            <a:off x="7543800" y="40233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3 Design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7543800" y="438912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official UI component library delivering a modern, accessible, and responsive design system.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00BCD4">
              <a:alpha val="10000"/>
            </a:srgbClr>
          </a:solidFill>
          <a:ln w="12700">
            <a:solidFill>
              <a:srgbClr val="00BCD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Tech Stack — Backend &amp; AI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2004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669280" cy="2103120"/>
          </a:xfrm>
          <a:prstGeom prst="rect">
            <a:avLst/>
          </a:prstGeom>
          <a:solidFill>
            <a:srgbClr val="1A2550"/>
          </a:solidFill>
          <a:ln w="12700">
            <a:solidFill>
              <a:srgbClr val="00BCD4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4206240" y="1252728"/>
            <a:ext cx="1691640" cy="320040"/>
          </a:xfrm>
          <a:prstGeom prst="rect">
            <a:avLst/>
          </a:prstGeom>
          <a:solidFill>
            <a:srgbClr val="00BCD4">
              <a:alpha val="40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4206240" y="12527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1005840" cy="1005840"/>
          </a:xfrm>
          <a:prstGeom prst="ellipse">
            <a:avLst/>
          </a:prstGeom>
          <a:solidFill>
            <a:srgbClr val="00BCD4">
              <a:alpha val="22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755648"/>
            <a:ext cx="77724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45920" y="125272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645920" y="169164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Backend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645920" y="205740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fast Python web framework exposing ML prediction endpoints with JSON responses.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63640" y="1143000"/>
            <a:ext cx="5669280" cy="2103120"/>
          </a:xfrm>
          <a:prstGeom prst="rect">
            <a:avLst/>
          </a:prstGeom>
          <a:solidFill>
            <a:srgbClr val="1A2550"/>
          </a:solidFill>
          <a:ln w="12700">
            <a:solidFill>
              <a:srgbClr val="2979FF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2"/>
          <p:cNvSpPr/>
          <p:nvPr/>
        </p:nvSpPr>
        <p:spPr>
          <a:xfrm>
            <a:off x="10104120" y="1252728"/>
            <a:ext cx="1691640" cy="320040"/>
          </a:xfrm>
          <a:prstGeom prst="rect">
            <a:avLst/>
          </a:prstGeom>
          <a:solidFill>
            <a:srgbClr val="2979FF">
              <a:alpha val="40000"/>
            </a:srgbClr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10104120" y="12527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0" y="1645920"/>
            <a:ext cx="1005840" cy="1005840"/>
          </a:xfrm>
          <a:prstGeom prst="ellipse">
            <a:avLst/>
          </a:prstGeom>
          <a:solidFill>
            <a:srgbClr val="2979FF">
              <a:alpha val="22000"/>
            </a:srgbClr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1755648"/>
            <a:ext cx="777240" cy="7772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543800" y="125272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7543800" y="169164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Model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543800" y="205740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 decision trees for highly accurate financial spending pattern forecasting.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365760" y="3474720"/>
            <a:ext cx="5669280" cy="2103120"/>
          </a:xfrm>
          <a:prstGeom prst="rect">
            <a:avLst/>
          </a:prstGeom>
          <a:solidFill>
            <a:srgbClr val="1A2550"/>
          </a:solidFill>
          <a:ln w="12700">
            <a:solidFill>
              <a:srgbClr val="00E676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19"/>
          <p:cNvSpPr/>
          <p:nvPr/>
        </p:nvSpPr>
        <p:spPr>
          <a:xfrm>
            <a:off x="4206240" y="3584448"/>
            <a:ext cx="1691640" cy="320040"/>
          </a:xfrm>
          <a:prstGeom prst="rect">
            <a:avLst/>
          </a:prstGeom>
          <a:solidFill>
            <a:srgbClr val="00E676">
              <a:alpha val="40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0"/>
          <p:cNvSpPr/>
          <p:nvPr/>
        </p:nvSpPr>
        <p:spPr>
          <a:xfrm>
            <a:off x="4206240" y="35844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DB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02920" y="3977640"/>
            <a:ext cx="1005840" cy="1005840"/>
          </a:xfrm>
          <a:prstGeom prst="ellipse">
            <a:avLst/>
          </a:prstGeom>
          <a:solidFill>
            <a:srgbClr val="00E676">
              <a:alpha val="22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4087368"/>
            <a:ext cx="777240" cy="7772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645920" y="358444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1645920" y="40233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1645920" y="438912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distributed NoSQL cloud database enabling seamless cross-device data synchronization.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6263640" y="3474720"/>
            <a:ext cx="5669280" cy="2103120"/>
          </a:xfrm>
          <a:prstGeom prst="rect">
            <a:avLst/>
          </a:prstGeom>
          <a:solidFill>
            <a:srgbClr val="1A2550"/>
          </a:solidFill>
          <a:ln w="12700">
            <a:solidFill>
              <a:srgbClr val="FFD600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6"/>
          <p:cNvSpPr/>
          <p:nvPr/>
        </p:nvSpPr>
        <p:spPr>
          <a:xfrm>
            <a:off x="10104120" y="3584448"/>
            <a:ext cx="1691640" cy="320040"/>
          </a:xfrm>
          <a:prstGeom prst="rect">
            <a:avLst/>
          </a:prstGeom>
          <a:solidFill>
            <a:srgbClr val="FFD600">
              <a:alpha val="4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27"/>
          <p:cNvSpPr/>
          <p:nvPr/>
        </p:nvSpPr>
        <p:spPr>
          <a:xfrm>
            <a:off x="10104120" y="35844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6400800" y="3977640"/>
            <a:ext cx="1005840" cy="1005840"/>
          </a:xfrm>
          <a:prstGeom prst="ellipse">
            <a:avLst/>
          </a:prstGeom>
          <a:solidFill>
            <a:srgbClr val="FFD600">
              <a:alpha val="22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4087368"/>
            <a:ext cx="777240" cy="77724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543800" y="358444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ML Kit</a:t>
            </a:r>
            <a:endParaRPr lang="en-US" sz="2000" dirty="0"/>
          </a:p>
        </p:txBody>
      </p:sp>
      <p:sp>
        <p:nvSpPr>
          <p:cNvPr id="36" name="Text 30"/>
          <p:cNvSpPr/>
          <p:nvPr/>
        </p:nvSpPr>
        <p:spPr>
          <a:xfrm>
            <a:off x="7543800" y="40233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Engine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7543800" y="438912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machine learning for real-time receipt text recognition without internet dependency.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Architecture &amp; Design Pattern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6576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5486400" cy="896112"/>
          </a:xfrm>
          <a:prstGeom prst="rect">
            <a:avLst/>
          </a:prstGeom>
          <a:solidFill>
            <a:srgbClr val="1A2550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73152" cy="8961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98448"/>
            <a:ext cx="530352" cy="530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2070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LAYER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88720" y="15910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/ Fragment / XML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651760" y="2011680"/>
            <a:ext cx="54864" cy="219456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8"/>
          <p:cNvSpPr/>
          <p:nvPr/>
        </p:nvSpPr>
        <p:spPr>
          <a:xfrm>
            <a:off x="502920" y="2231136"/>
            <a:ext cx="5212080" cy="896112"/>
          </a:xfrm>
          <a:prstGeom prst="rect">
            <a:avLst/>
          </a:prstGeom>
          <a:solidFill>
            <a:srgbClr val="1A2550"/>
          </a:solidFill>
          <a:ln w="12700">
            <a:solidFill>
              <a:srgbClr val="2979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502920" y="2231136"/>
            <a:ext cx="73152" cy="896112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414016"/>
            <a:ext cx="530352" cy="5303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232257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325880" y="270662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LiveData / StateFlow / Logic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2788920" y="3127248"/>
            <a:ext cx="54864" cy="219456"/>
          </a:xfrm>
          <a:prstGeom prst="rect">
            <a:avLst/>
          </a:prstGeom>
          <a:solidFill>
            <a:srgbClr val="2979FF">
              <a:alpha val="50000"/>
            </a:srgbClr>
          </a:solidFill>
          <a:ln w="12700">
            <a:solidFill>
              <a:srgbClr val="2979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3"/>
          <p:cNvSpPr/>
          <p:nvPr/>
        </p:nvSpPr>
        <p:spPr>
          <a:xfrm>
            <a:off x="640080" y="3346704"/>
            <a:ext cx="4937760" cy="896112"/>
          </a:xfrm>
          <a:prstGeom prst="rect">
            <a:avLst/>
          </a:prstGeom>
          <a:solidFill>
            <a:srgbClr val="1A2550"/>
          </a:solidFill>
          <a:ln w="12700">
            <a:solidFill>
              <a:srgbClr val="00BCD4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4"/>
          <p:cNvSpPr/>
          <p:nvPr/>
        </p:nvSpPr>
        <p:spPr>
          <a:xfrm>
            <a:off x="640080" y="3346704"/>
            <a:ext cx="73152" cy="8961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529584"/>
            <a:ext cx="530352" cy="5303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43814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1463040" y="38221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DB ↔ MongoDB Atlas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2926080" y="4242816"/>
            <a:ext cx="54864" cy="219456"/>
          </a:xfrm>
          <a:prstGeom prst="rect">
            <a:avLst/>
          </a:prstGeom>
          <a:solidFill>
            <a:srgbClr val="00BCD4">
              <a:alpha val="50000"/>
            </a:srgbClr>
          </a:solidFill>
          <a:ln w="12700">
            <a:solidFill>
              <a:srgbClr val="00BC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18"/>
          <p:cNvSpPr/>
          <p:nvPr/>
        </p:nvSpPr>
        <p:spPr>
          <a:xfrm>
            <a:off x="777240" y="4462272"/>
            <a:ext cx="4663440" cy="896112"/>
          </a:xfrm>
          <a:prstGeom prst="rect">
            <a:avLst/>
          </a:prstGeom>
          <a:solidFill>
            <a:srgbClr val="1A2550"/>
          </a:solidFill>
          <a:ln w="12700">
            <a:solidFill>
              <a:srgbClr val="00E676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19"/>
          <p:cNvSpPr/>
          <p:nvPr/>
        </p:nvSpPr>
        <p:spPr>
          <a:xfrm>
            <a:off x="777240" y="4462272"/>
            <a:ext cx="73152" cy="89611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645152"/>
            <a:ext cx="530352" cy="5303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00200" y="45537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1600200" y="4937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Room | Remote API | ML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6400800" y="1115568"/>
            <a:ext cx="5394960" cy="4828032"/>
          </a:xfrm>
          <a:prstGeom prst="rect">
            <a:avLst/>
          </a:prstGeom>
          <a:solidFill>
            <a:srgbClr val="1A2550"/>
          </a:solidFill>
          <a:ln w="12700">
            <a:solidFill>
              <a:srgbClr val="00BCD4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9" name="Shape 23"/>
          <p:cNvSpPr/>
          <p:nvPr/>
        </p:nvSpPr>
        <p:spPr>
          <a:xfrm>
            <a:off x="6400800" y="1115568"/>
            <a:ext cx="5394960" cy="47548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4"/>
          <p:cNvSpPr/>
          <p:nvPr/>
        </p:nvSpPr>
        <p:spPr>
          <a:xfrm>
            <a:off x="6537960" y="118872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</a:t>
            </a:r>
            <a:endParaRPr lang="en-US" sz="24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773936"/>
            <a:ext cx="411480" cy="4114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132320" y="177393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Local (Room DB) and Remote (MongoDB) data sources seamlessly</a:t>
            </a:r>
            <a:endParaRPr lang="en-US" sz="14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578608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132320" y="257860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 only talks to Repository — single source of truth principle</a:t>
            </a:r>
            <a:endParaRPr lang="en-US" sz="14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3383280"/>
            <a:ext cx="411480" cy="41148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132320" y="33832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 handles background sync intelligently to conserve battery</a:t>
            </a:r>
            <a:endParaRPr lang="en-US" sz="140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4187952"/>
            <a:ext cx="411480" cy="4114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132320" y="418795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approach with automatic online conflict resolution</a:t>
            </a:r>
            <a:endParaRPr lang="en-US" sz="140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4992624"/>
            <a:ext cx="411480" cy="41148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132320" y="4992624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encryption applied before writing to any persistent storage layer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E676">
              <a:alpha val="10000"/>
            </a:srgbClr>
          </a:solidFill>
          <a:ln w="12700">
            <a:solidFill>
              <a:srgbClr val="00E67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Data Management — Local-First Architecture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5029200" cy="457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2011680" cy="2011680"/>
          </a:xfrm>
          <a:prstGeom prst="ellipse">
            <a:avLst/>
          </a:prstGeom>
          <a:solidFill>
            <a:srgbClr val="1A2550"/>
          </a:solidFill>
          <a:ln w="12700">
            <a:solidFill>
              <a:srgbClr val="2979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606040"/>
            <a:ext cx="868680" cy="868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35478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Expense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395728" y="3182112"/>
            <a:ext cx="1444752" cy="45720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3383280" y="30358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74720" y="2286000"/>
            <a:ext cx="2011680" cy="2011680"/>
          </a:xfrm>
          <a:prstGeom prst="ellipse">
            <a:avLst/>
          </a:prstGeom>
          <a:solidFill>
            <a:srgbClr val="1A2550"/>
          </a:solidFill>
          <a:ln w="12700">
            <a:solidFill>
              <a:srgbClr val="00BCD4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648" y="2606040"/>
            <a:ext cx="868680" cy="8686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35478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DB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474720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SQLite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504688" y="3182112"/>
            <a:ext cx="1444752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3"/>
          <p:cNvSpPr/>
          <p:nvPr/>
        </p:nvSpPr>
        <p:spPr>
          <a:xfrm>
            <a:off x="6492240" y="30358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583680" y="2286000"/>
            <a:ext cx="2011680" cy="2011680"/>
          </a:xfrm>
          <a:prstGeom prst="ellipse">
            <a:avLst/>
          </a:prstGeom>
          <a:solidFill>
            <a:srgbClr val="1A2550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2606040"/>
            <a:ext cx="868680" cy="8686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83680" y="35478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583680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Sync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8613648" y="3182112"/>
            <a:ext cx="144475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18"/>
          <p:cNvSpPr/>
          <p:nvPr/>
        </p:nvSpPr>
        <p:spPr>
          <a:xfrm>
            <a:off x="9601200" y="30358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9692640" y="2286000"/>
            <a:ext cx="2011680" cy="2011680"/>
          </a:xfrm>
          <a:prstGeom prst="ellipse">
            <a:avLst/>
          </a:prstGeom>
          <a:solidFill>
            <a:srgbClr val="1A2550"/>
          </a:solidFill>
          <a:ln w="12700">
            <a:solidFill>
              <a:srgbClr val="00E676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9568" y="2606040"/>
            <a:ext cx="868680" cy="8686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692640" y="35478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692640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1005840" y="4846320"/>
            <a:ext cx="3200400" cy="96012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9" name="Shape 23"/>
          <p:cNvSpPr/>
          <p:nvPr/>
        </p:nvSpPr>
        <p:spPr>
          <a:xfrm>
            <a:off x="1005840" y="4846320"/>
            <a:ext cx="64008" cy="960120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0432" y="5029200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810512" y="4892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1810512" y="523951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expenses without internet — auto-syncs when connection is restored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4480560" y="4846320"/>
            <a:ext cx="3200400" cy="96012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4" name="Shape 27"/>
          <p:cNvSpPr/>
          <p:nvPr/>
        </p:nvSpPr>
        <p:spPr>
          <a:xfrm>
            <a:off x="4480560" y="4846320"/>
            <a:ext cx="64008" cy="9601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152" y="5029200"/>
            <a:ext cx="502920" cy="5029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285232" y="4892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600" dirty="0"/>
          </a:p>
        </p:txBody>
      </p:sp>
      <p:sp>
        <p:nvSpPr>
          <p:cNvPr id="37" name="Text 29"/>
          <p:cNvSpPr/>
          <p:nvPr/>
        </p:nvSpPr>
        <p:spPr>
          <a:xfrm>
            <a:off x="5285232" y="523951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encryption on all stored financial data before persistence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7955280" y="4846320"/>
            <a:ext cx="3200400" cy="96012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9" name="Shape 31"/>
          <p:cNvSpPr/>
          <p:nvPr/>
        </p:nvSpPr>
        <p:spPr>
          <a:xfrm>
            <a:off x="7955280" y="4846320"/>
            <a:ext cx="64008" cy="9601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9872" y="5029200"/>
            <a:ext cx="502920" cy="5029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8759952" y="4892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</a:t>
            </a:r>
            <a:endParaRPr lang="en-US" sz="1600" dirty="0"/>
          </a:p>
        </p:txBody>
      </p:sp>
      <p:sp>
        <p:nvSpPr>
          <p:cNvPr id="42" name="Text 33"/>
          <p:cNvSpPr/>
          <p:nvPr/>
        </p:nvSpPr>
        <p:spPr>
          <a:xfrm>
            <a:off x="8759952" y="523951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merge strategy handles data conflicts between local and remote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Biometric Security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256032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4114800" y="1143000"/>
            <a:ext cx="3931920" cy="393192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4526280" y="1554480"/>
            <a:ext cx="3108960" cy="310896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965960"/>
            <a:ext cx="2286000" cy="2286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1280160"/>
            <a:ext cx="3657600" cy="178308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7"/>
          <p:cNvSpPr/>
          <p:nvPr/>
        </p:nvSpPr>
        <p:spPr>
          <a:xfrm>
            <a:off x="365760" y="1280160"/>
            <a:ext cx="64008" cy="1783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45920"/>
            <a:ext cx="685800" cy="685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1417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Auth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1371600" y="182880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BiometricPrompt API integration for hardware-backed authentication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65760" y="3383280"/>
            <a:ext cx="3657600" cy="178308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1"/>
          <p:cNvSpPr/>
          <p:nvPr/>
        </p:nvSpPr>
        <p:spPr>
          <a:xfrm>
            <a:off x="365760" y="3383280"/>
            <a:ext cx="64008" cy="1783080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49040"/>
            <a:ext cx="685800" cy="685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520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Encryption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1371600" y="39319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 on all sensitive financial data stored locally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229600" y="1280160"/>
            <a:ext cx="3657600" cy="178308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Shape 15"/>
          <p:cNvSpPr/>
          <p:nvPr/>
        </p:nvSpPr>
        <p:spPr>
          <a:xfrm>
            <a:off x="8229600" y="1280160"/>
            <a:ext cx="64008" cy="17830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1645920"/>
            <a:ext cx="685800" cy="6858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35440" y="1417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Sessions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9235440" y="182880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session tokens with automatic expiry and refresh cycles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8229600" y="3383280"/>
            <a:ext cx="3657600" cy="178308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19"/>
          <p:cNvSpPr/>
          <p:nvPr/>
        </p:nvSpPr>
        <p:spPr>
          <a:xfrm>
            <a:off x="8229600" y="3383280"/>
            <a:ext cx="64008" cy="178308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3749040"/>
            <a:ext cx="685800" cy="6858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35440" y="3520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First</a:t>
            </a: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9235440" y="39319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architecture ensures financial data never leaves the device unnecessarily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365760" y="5486400"/>
            <a:ext cx="11430000" cy="1078992"/>
          </a:xfrm>
          <a:prstGeom prst="rect">
            <a:avLst/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3"/>
          <p:cNvSpPr/>
          <p:nvPr/>
        </p:nvSpPr>
        <p:spPr>
          <a:xfrm>
            <a:off x="914400" y="5577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914400" y="5961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3749040" y="5577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BiometricPrompt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3749040" y="5961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API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6583680" y="5577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6583680" y="5961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9418320" y="5577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800" dirty="0"/>
          </a:p>
        </p:txBody>
      </p:sp>
      <p:sp>
        <p:nvSpPr>
          <p:cNvPr id="37" name="Text 30"/>
          <p:cNvSpPr/>
          <p:nvPr/>
        </p:nvSpPr>
        <p:spPr>
          <a:xfrm>
            <a:off x="9418320" y="5961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Tokens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D600">
              <a:alpha val="10000"/>
            </a:srgbClr>
          </a:solidFill>
          <a:ln w="12700">
            <a:solidFill>
              <a:srgbClr val="FFD6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2926080" cy="4572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657600" cy="4206240"/>
          </a:xfrm>
          <a:prstGeom prst="rect">
            <a:avLst/>
          </a:prstGeom>
          <a:solidFill>
            <a:srgbClr val="1A2550"/>
          </a:solidFill>
          <a:ln w="12700">
            <a:solidFill>
              <a:srgbClr val="2979FF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3657600" cy="731520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v2.0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51760" y="12618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084832"/>
            <a:ext cx="384048" cy="384048"/>
          </a:xfrm>
          <a:prstGeom prst="ellipse">
            <a:avLst/>
          </a:prstGeom>
          <a:solidFill>
            <a:srgbClr val="2979FF">
              <a:alpha val="30000"/>
            </a:srgbClr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54864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208483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SMS Auto-parsing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044952"/>
            <a:ext cx="384048" cy="384048"/>
          </a:xfrm>
          <a:prstGeom prst="ellipse">
            <a:avLst/>
          </a:prstGeom>
          <a:solidFill>
            <a:srgbClr val="2979FF">
              <a:alpha val="30000"/>
            </a:srgbClr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54864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4128" y="304495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for budget alerts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005072"/>
            <a:ext cx="384048" cy="384048"/>
          </a:xfrm>
          <a:prstGeom prst="ellipse">
            <a:avLst/>
          </a:prstGeom>
          <a:solidFill>
            <a:srgbClr val="2979FF">
              <a:alpha val="30000"/>
            </a:srgbClr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400507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NLP engine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97680" y="1188720"/>
            <a:ext cx="3657600" cy="4206240"/>
          </a:xfrm>
          <a:prstGeom prst="rect">
            <a:avLst/>
          </a:prstGeom>
          <a:solidFill>
            <a:srgbClr val="1A2550"/>
          </a:solidFill>
          <a:ln w="12700">
            <a:solidFill>
              <a:srgbClr val="00BCD4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4297680" y="1188720"/>
            <a:ext cx="3657600" cy="7315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4297680" y="1188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v2.5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583680" y="12618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80560" y="2084832"/>
            <a:ext cx="384048" cy="384048"/>
          </a:xfrm>
          <a:prstGeom prst="ellipse">
            <a:avLst/>
          </a:prstGeom>
          <a:solidFill>
            <a:srgbClr val="00BCD4">
              <a:alpha val="30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448056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56048" y="208483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Support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480560" y="3044952"/>
            <a:ext cx="384048" cy="384048"/>
          </a:xfrm>
          <a:prstGeom prst="ellipse">
            <a:avLst/>
          </a:prstGeom>
          <a:solidFill>
            <a:srgbClr val="00BCD4">
              <a:alpha val="30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448056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56048" y="304495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exchange rates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80560" y="4005072"/>
            <a:ext cx="384048" cy="384048"/>
          </a:xfrm>
          <a:prstGeom prst="ellipse">
            <a:avLst/>
          </a:prstGeom>
          <a:solidFill>
            <a:srgbClr val="00BCD4">
              <a:alpha val="30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448056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56048" y="400507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finance mode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229600" y="1188720"/>
            <a:ext cx="3657600" cy="4206240"/>
          </a:xfrm>
          <a:prstGeom prst="rect">
            <a:avLst/>
          </a:prstGeom>
          <a:solidFill>
            <a:srgbClr val="1A2550"/>
          </a:solidFill>
          <a:ln w="1270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8229600" y="1188720"/>
            <a:ext cx="365760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8229600" y="1188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v3.0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0515600" y="12618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412480" y="2084832"/>
            <a:ext cx="384048" cy="384048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841248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887968" y="208483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 Tips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412480" y="3044952"/>
            <a:ext cx="384048" cy="384048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3" name="Text 41"/>
          <p:cNvSpPr/>
          <p:nvPr/>
        </p:nvSpPr>
        <p:spPr>
          <a:xfrm>
            <a:off x="841248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887968" y="304495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pattern detection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412480" y="4005072"/>
            <a:ext cx="384048" cy="384048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Text 44"/>
          <p:cNvSpPr/>
          <p:nvPr/>
        </p:nvSpPr>
        <p:spPr>
          <a:xfrm>
            <a:off x="841248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887968" y="400507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financial goals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65760" y="5577840"/>
            <a:ext cx="11430000" cy="960120"/>
          </a:xfrm>
          <a:prstGeom prst="rect">
            <a:avLst/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5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87568"/>
            <a:ext cx="457200" cy="457200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1280160" y="5596128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Transform FinIntelligence into a complete AI Financial Advisor for everyone in Pakistan and beyond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513" y="-77987"/>
            <a:ext cx="6238047" cy="6373894"/>
          </a:xfrm>
          <a:prstGeom prst="ellipse">
            <a:avLst/>
          </a:prstGeom>
          <a:solidFill>
            <a:srgbClr val="2979FF">
              <a:alpha val="20000"/>
            </a:srgbClr>
          </a:solidFill>
          <a:ln w="12700">
            <a:solidFill>
              <a:srgbClr val="2979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6720840" y="18288"/>
            <a:ext cx="5401371" cy="5614416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914400" y="548640"/>
            <a:ext cx="164592" cy="164592"/>
          </a:xfrm>
          <a:prstGeom prst="ellipse">
            <a:avLst/>
          </a:prstGeom>
          <a:solidFill>
            <a:srgbClr val="00E5FF">
              <a:alpha val="35000"/>
            </a:srgbClr>
          </a:solidFill>
          <a:ln w="12700">
            <a:solidFill>
              <a:srgbClr val="00E5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1078992" y="612648"/>
            <a:ext cx="1755648" cy="27432"/>
          </a:xfrm>
          <a:prstGeom prst="rect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2834640" y="548640"/>
            <a:ext cx="164592" cy="164592"/>
          </a:xfrm>
          <a:prstGeom prst="ellipse">
            <a:avLst/>
          </a:prstGeom>
          <a:solidFill>
            <a:srgbClr val="00E5FF">
              <a:alpha val="35000"/>
            </a:srgbClr>
          </a:solidFill>
          <a:ln w="12700">
            <a:solidFill>
              <a:srgbClr val="00E5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2999232" y="612648"/>
            <a:ext cx="1755648" cy="27432"/>
          </a:xfrm>
          <a:prstGeom prst="rect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4754880" y="548640"/>
            <a:ext cx="164592" cy="164592"/>
          </a:xfrm>
          <a:prstGeom prst="ellipse">
            <a:avLst/>
          </a:prstGeom>
          <a:solidFill>
            <a:srgbClr val="00E5FF">
              <a:alpha val="35000"/>
            </a:srgbClr>
          </a:solidFill>
          <a:ln w="12700">
            <a:solidFill>
              <a:srgbClr val="00E5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4919472" y="612648"/>
            <a:ext cx="1755648" cy="27432"/>
          </a:xfrm>
          <a:prstGeom prst="rect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6675120" y="548640"/>
            <a:ext cx="164592" cy="164592"/>
          </a:xfrm>
          <a:prstGeom prst="ellipse">
            <a:avLst/>
          </a:prstGeom>
          <a:solidFill>
            <a:srgbClr val="00E5FF">
              <a:alpha val="35000"/>
            </a:srgbClr>
          </a:solidFill>
          <a:ln w="12700">
            <a:solidFill>
              <a:srgbClr val="00E5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6839712" y="612648"/>
            <a:ext cx="1755648" cy="27432"/>
          </a:xfrm>
          <a:prstGeom prst="rect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8595360" y="548640"/>
            <a:ext cx="164592" cy="164592"/>
          </a:xfrm>
          <a:prstGeom prst="ellipse">
            <a:avLst/>
          </a:prstGeom>
          <a:solidFill>
            <a:srgbClr val="00E5FF">
              <a:alpha val="35000"/>
            </a:srgbClr>
          </a:solidFill>
          <a:ln w="12700">
            <a:solidFill>
              <a:srgbClr val="00E5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8759952" y="612648"/>
            <a:ext cx="1755648" cy="27432"/>
          </a:xfrm>
          <a:prstGeom prst="rect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10515600" y="548640"/>
            <a:ext cx="164592" cy="164592"/>
          </a:xfrm>
          <a:prstGeom prst="ellipse">
            <a:avLst/>
          </a:prstGeom>
          <a:solidFill>
            <a:srgbClr val="00E5FF">
              <a:alpha val="35000"/>
            </a:srgbClr>
          </a:solidFill>
          <a:ln w="12700">
            <a:solidFill>
              <a:srgbClr val="00E5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4800600" y="548640"/>
            <a:ext cx="2560320" cy="2560320"/>
          </a:xfrm>
          <a:prstGeom prst="ellipse">
            <a:avLst/>
          </a:prstGeom>
          <a:solidFill>
            <a:srgbClr val="2979FF">
              <a:alpha val="20000"/>
            </a:srgbClr>
          </a:solidFill>
          <a:ln w="12700">
            <a:solidFill>
              <a:srgbClr val="00E5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5120640" y="868680"/>
            <a:ext cx="1920240" cy="1920240"/>
          </a:xfrm>
          <a:prstGeom prst="ellipse">
            <a:avLst/>
          </a:prstGeom>
          <a:solidFill>
            <a:srgbClr val="2979FF">
              <a:alpha val="30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143000"/>
            <a:ext cx="1371600" cy="13716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14400" y="324612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20" name="Shape 17"/>
          <p:cNvSpPr/>
          <p:nvPr/>
        </p:nvSpPr>
        <p:spPr>
          <a:xfrm>
            <a:off x="3200400" y="4663440"/>
            <a:ext cx="576072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8"/>
          <p:cNvSpPr/>
          <p:nvPr/>
        </p:nvSpPr>
        <p:spPr>
          <a:xfrm>
            <a:off x="3840480" y="4745736"/>
            <a:ext cx="4480560" cy="36576"/>
          </a:xfrm>
          <a:prstGeom prst="rect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19"/>
          <p:cNvSpPr/>
          <p:nvPr/>
        </p:nvSpPr>
        <p:spPr>
          <a:xfrm>
            <a:off x="914400" y="484632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23" name="Shape 20"/>
          <p:cNvSpPr/>
          <p:nvPr/>
        </p:nvSpPr>
        <p:spPr>
          <a:xfrm>
            <a:off x="365760" y="5577840"/>
            <a:ext cx="11430000" cy="960120"/>
          </a:xfrm>
          <a:prstGeom prst="rect">
            <a:avLst/>
          </a:prstGeom>
          <a:solidFill>
            <a:srgbClr val="0D1440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687568"/>
            <a:ext cx="411480" cy="4114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170432" y="5623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r>
              <a:rPr lang="en-US" sz="10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170432" y="5943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Sajid Ali  |  Shahzad Ali</a:t>
            </a:r>
            <a:endParaRPr lang="en-US" dirty="0"/>
          </a:p>
        </p:txBody>
      </p:sp>
      <p:sp>
        <p:nvSpPr>
          <p:cNvPr id="27" name="Shape 23"/>
          <p:cNvSpPr/>
          <p:nvPr/>
        </p:nvSpPr>
        <p:spPr>
          <a:xfrm>
            <a:off x="4846320" y="5669280"/>
            <a:ext cx="36576" cy="777240"/>
          </a:xfrm>
          <a:prstGeom prst="rect">
            <a:avLst/>
          </a:prstGeom>
          <a:solidFill>
            <a:srgbClr val="8898C4">
              <a:alpha val="40000"/>
            </a:srgbClr>
          </a:solidFill>
          <a:ln w="12700">
            <a:solidFill>
              <a:srgbClr val="8898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5687568"/>
            <a:ext cx="411480" cy="4114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605272" y="5623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</a:t>
            </a:r>
            <a:endParaRPr lang="en-US" sz="2000" b="1" dirty="0"/>
          </a:p>
        </p:txBody>
      </p:sp>
      <p:sp>
        <p:nvSpPr>
          <p:cNvPr id="30" name="Text 25"/>
          <p:cNvSpPr/>
          <p:nvPr/>
        </p:nvSpPr>
        <p:spPr>
          <a:xfrm>
            <a:off x="5605272" y="5943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Faisal Hafeez</a:t>
            </a:r>
            <a:endParaRPr lang="en-US" dirty="0"/>
          </a:p>
        </p:txBody>
      </p:sp>
      <p:sp>
        <p:nvSpPr>
          <p:cNvPr id="31" name="Shape 26"/>
          <p:cNvSpPr/>
          <p:nvPr/>
        </p:nvSpPr>
        <p:spPr>
          <a:xfrm>
            <a:off x="8686800" y="5669280"/>
            <a:ext cx="36576" cy="777240"/>
          </a:xfrm>
          <a:prstGeom prst="rect">
            <a:avLst/>
          </a:prstGeom>
          <a:solidFill>
            <a:srgbClr val="8898C4">
              <a:alpha val="40000"/>
            </a:srgbClr>
          </a:solidFill>
          <a:ln w="12700">
            <a:solidFill>
              <a:srgbClr val="8898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5687568"/>
            <a:ext cx="411480" cy="4114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436608" y="5623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9436608" y="5943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Layyah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1093</Words>
  <Application>Microsoft Office PowerPoint</Application>
  <PresentationFormat>Widescreen</PresentationFormat>
  <Paragraphs>336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Agency FB</vt:lpstr>
      <vt:lpstr>Aptos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shahzad Ali</cp:lastModifiedBy>
  <cp:revision>3</cp:revision>
  <dcterms:created xsi:type="dcterms:W3CDTF">2026-06-05T07:29:03Z</dcterms:created>
  <dcterms:modified xsi:type="dcterms:W3CDTF">2026-06-05T08:13:09Z</dcterms:modified>
</cp:coreProperties>
</file>